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71" r:id="rId7"/>
    <p:sldId id="272" r:id="rId8"/>
    <p:sldId id="273" r:id="rId9"/>
    <p:sldId id="261" r:id="rId10"/>
    <p:sldId id="262" r:id="rId11"/>
    <p:sldId id="263" r:id="rId12"/>
    <p:sldId id="264" r:id="rId13"/>
    <p:sldId id="265" r:id="rId14"/>
    <p:sldId id="266" r:id="rId15"/>
    <p:sldId id="270" r:id="rId16"/>
    <p:sldId id="275" r:id="rId17"/>
    <p:sldId id="276" r:id="rId18"/>
    <p:sldId id="277" r:id="rId19"/>
    <p:sldId id="278" r:id="rId20"/>
    <p:sldId id="268" r:id="rId21"/>
    <p:sldId id="269" r:id="rId22"/>
    <p:sldId id="274" r:id="rId23"/>
  </p:sldIdLst>
  <p:sldSz cx="12192000" cy="6858000"/>
  <p:notesSz cx="6858000" cy="9144000"/>
  <p:custDataLst>
    <p:tags r:id="rId25"/>
  </p:custDataLst>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0"/>
    <p:restoredTop sz="0"/>
  </p:normalViewPr>
  <p:slideViewPr>
    <p:cSldViewPr>
      <p:cViewPr>
        <p:scale>
          <a:sx n="66" d="100"/>
          <a:sy n="66" d="100"/>
        </p:scale>
        <p:origin x="876" y="300"/>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8"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4E4C46C-C10B-6389-C3A7-85E7FA6FEBE8}"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8AB64D6-9C5D-F4BF-A39A-6A6DF66E801A}"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29F32DD-F2F4-D1CF-9BEA-CB09F0E6728E}"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18DAD1D-1FEA-07AC-A8DB-A1029593BAB6}"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1BD040-3734-4326-DA83-B89F59B43E35}"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1BD040-3734-4326-DA83-B89F59B43E35}" type="slidenum">
              <a:rPr/>
              <a:t>6</a:t>
            </a:fld>
            <a:endParaRPr/>
          </a:p>
        </p:txBody>
      </p:sp>
    </p:spTree>
    <p:extLst>
      <p:ext uri="{BB962C8B-B14F-4D97-AF65-F5344CB8AC3E}">
        <p14:creationId xmlns:p14="http://schemas.microsoft.com/office/powerpoint/2010/main" val="258701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1BD040-3734-4326-DA83-B89F59B43E35}" type="slidenum">
              <a:rPr/>
              <a:t>7</a:t>
            </a:fld>
            <a:endParaRPr/>
          </a:p>
        </p:txBody>
      </p:sp>
    </p:spTree>
    <p:extLst>
      <p:ext uri="{BB962C8B-B14F-4D97-AF65-F5344CB8AC3E}">
        <p14:creationId xmlns:p14="http://schemas.microsoft.com/office/powerpoint/2010/main" val="641519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1BD040-3734-4326-DA83-B89F59B43E35}" type="slidenum">
              <a:rPr/>
              <a:t>8</a:t>
            </a:fld>
            <a:endParaRPr/>
          </a:p>
        </p:txBody>
      </p:sp>
    </p:spTree>
    <p:extLst>
      <p:ext uri="{BB962C8B-B14F-4D97-AF65-F5344CB8AC3E}">
        <p14:creationId xmlns:p14="http://schemas.microsoft.com/office/powerpoint/2010/main" val="2829567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B8CAEE0-2DEC-FF21-3838-4FDB8D146FA7}"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F41BB2E-FE91-5FC7-CC4E-499911B65286}"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7A6A3F7-A744-DFE8-3E92-464B441FF100}"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B9C8AFD-20D2-AEDC-22A5-9C2562277921}"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BFE2DEC-0E2F-216B-39E9-0982B98A6775}"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D4F9749-74B3-13F6-1F7A-C73C386396BB}"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53C1ACD-4DAB-9718-CC1D-104FCD2EE9FF}"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CCBBDDF-778D-A289-604C-4B4F1ABBFF85}" type="slidenum">
              <a:rPr/>
              <a:t>20</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F8B3363-A348-E2F6-4817-95F3D0A415BB}" type="slidenum">
              <a:rPr/>
              <a:t>21</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53C1ACD-4DAB-9718-CC1D-104FCD2EE9FF}" type="slidenum">
              <a:rPr/>
              <a:t>22</a:t>
            </a:fld>
            <a:endParaRPr/>
          </a:p>
        </p:txBody>
      </p:sp>
    </p:spTree>
    <p:extLst>
      <p:ext uri="{BB962C8B-B14F-4D97-AF65-F5344CB8AC3E}">
        <p14:creationId xmlns:p14="http://schemas.microsoft.com/office/powerpoint/2010/main" val="1419405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Cover Slide Layout">
    <p:spTree>
      <p:nvGrpSpPr>
        <p:cNvPr id="1" name=""/>
        <p:cNvGrpSpPr/>
        <p:nvPr/>
      </p:nvGrpSpPr>
      <p:grpSpPr>
        <a:xfrm>
          <a:off x="0" y="0"/>
          <a:ext cx="0" cy="0"/>
          <a:chOff x="0" y="0"/>
          <a:chExt cx="0" cy="0"/>
        </a:xfrm>
      </p:grpSpPr>
      <p:sp>
        <p:nvSpPr>
          <p:cNvPr id="1887721647" name="Title 3"/>
          <p:cNvSpPr>
            <a:spLocks noGrp="1"/>
          </p:cNvSpPr>
          <p:nvPr>
            <p:ph type="title" hasCustomPrompt="1"/>
          </p:nvPr>
        </p:nvSpPr>
        <p:spPr bwMode="auto">
          <a:xfrm>
            <a:off x="575733" y="1790389"/>
            <a:ext cx="5520267" cy="2316255"/>
          </a:xfrm>
          <a:prstGeom prst="rect">
            <a:avLst/>
          </a:prstGeom>
        </p:spPr>
        <p:txBody>
          <a:bodyPr anchor="b"/>
          <a:lstStyle>
            <a:lvl1pPr>
              <a:defRPr sz="4800" b="1">
                <a:solidFill>
                  <a:schemeClr val="tx1"/>
                </a:solidFill>
                <a:latin typeface="+mj-lt"/>
              </a:defRPr>
            </a:lvl1pPr>
          </a:lstStyle>
          <a:p>
            <a:pPr>
              <a:defRPr/>
            </a:pPr>
            <a:r>
              <a:rPr lang="en-US"/>
              <a:t>Slidely is the best way to create great PPTs using AI</a:t>
            </a:r>
            <a:endParaRPr/>
          </a:p>
        </p:txBody>
      </p:sp>
      <p:sp>
        <p:nvSpPr>
          <p:cNvPr id="388459264" name="Picture Placeholder 5"/>
          <p:cNvSpPr>
            <a:spLocks noGrp="1"/>
          </p:cNvSpPr>
          <p:nvPr>
            <p:ph type="pic" sz="quarter" idx="10"/>
          </p:nvPr>
        </p:nvSpPr>
        <p:spPr bwMode="auto">
          <a:xfrm>
            <a:off x="6096000" y="0"/>
            <a:ext cx="6096000" cy="6858000"/>
          </a:xfrm>
          <a:prstGeom prst="rect">
            <a:avLst/>
          </a:prstGeom>
        </p:spPr>
        <p:txBody>
          <a:bodyPr/>
          <a:lstStyle/>
          <a:p>
            <a:pPr>
              <a:defRPr/>
            </a:pPr>
            <a:endParaRPr lang="en-US"/>
          </a:p>
        </p:txBody>
      </p:sp>
      <p:sp>
        <p:nvSpPr>
          <p:cNvPr id="1020049913" name="Text Placeholder 10"/>
          <p:cNvSpPr>
            <a:spLocks noGrp="1"/>
          </p:cNvSpPr>
          <p:nvPr>
            <p:ph type="body" sz="quarter" idx="11" hasCustomPrompt="1"/>
          </p:nvPr>
        </p:nvSpPr>
        <p:spPr bwMode="auto">
          <a:xfrm>
            <a:off x="575734" y="4144499"/>
            <a:ext cx="5520267" cy="619760"/>
          </a:xfrm>
          <a:prstGeom prst="rect">
            <a:avLst/>
          </a:prstGeom>
          <a:noFill/>
          <a:ln>
            <a:noFill/>
          </a:ln>
        </p:spPr>
        <p:txBody>
          <a:bodyPr spcFirstLastPara="1" wrap="square" lIns="91425" tIns="91425" rIns="91425" bIns="91425" anchor="t" anchorCtr="0">
            <a:noAutofit/>
          </a:bodyPr>
          <a:lstStyle>
            <a:lvl1pPr>
              <a:defRPr lang="en-US" sz="2800">
                <a:solidFill>
                  <a:schemeClr val="accent1"/>
                </a:solidFill>
                <a:latin typeface="+mn-lt"/>
              </a:defRPr>
            </a:lvl1pPr>
            <a:lvl2pPr>
              <a:defRPr lang="en-US"/>
            </a:lvl2pPr>
            <a:lvl3pPr>
              <a:defRPr lang="en-US"/>
            </a:lvl3pPr>
            <a:lvl4pPr>
              <a:defRPr lang="en-US"/>
            </a:lvl4pPr>
            <a:lvl5pPr>
              <a:defRPr lang="en-US"/>
            </a:lvl5pPr>
          </a:lstStyle>
          <a:p>
            <a:pPr marL="0" lvl="0" indent="0">
              <a:buNone/>
              <a:defRPr/>
            </a:pPr>
            <a:r>
              <a:rPr lang="en-US"/>
              <a:t>This is the subtitle</a:t>
            </a:r>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matchingName="Title and body" preserve="1" userDrawn="1">
  <p:cSld name="Two Third">
    <p:bg>
      <p:bgPr>
        <a:solidFill>
          <a:schemeClr val="tx1"/>
        </a:solidFill>
        <a:effectLst/>
      </p:bgPr>
    </p:bg>
    <p:spTree>
      <p:nvGrpSpPr>
        <p:cNvPr id="1" name=""/>
        <p:cNvGrpSpPr/>
        <p:nvPr/>
      </p:nvGrpSpPr>
      <p:grpSpPr>
        <a:xfrm>
          <a:off x="0" y="0"/>
          <a:ext cx="0" cy="0"/>
          <a:chOff x="0" y="0"/>
          <a:chExt cx="0" cy="0"/>
        </a:xfrm>
      </p:grpSpPr>
      <p:sp>
        <p:nvSpPr>
          <p:cNvPr id="2009099231" name="Arrow: Pentagon 4"/>
          <p:cNvSpPr/>
          <p:nvPr userDrawn="1"/>
        </p:nvSpPr>
        <p:spPr bwMode="auto">
          <a:xfrm>
            <a:off x="1" y="0"/>
            <a:ext cx="8138420" cy="6858000"/>
          </a:xfrm>
          <a:prstGeom prst="homePlate">
            <a:avLst>
              <a:gd name="adj" fmla="val 5783"/>
            </a:avLst>
          </a:prstGeom>
          <a:solidFill>
            <a:schemeClr val="bg1"/>
          </a:solidFill>
          <a:ln>
            <a:noFill/>
          </a:ln>
          <a:effectLst>
            <a:innerShdw blurRad="63500" dist="508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algn="ctr">
              <a:defRPr/>
            </a:pPr>
            <a:endParaRPr lang="en-US" sz="2500"/>
          </a:p>
        </p:txBody>
      </p:sp>
      <p:sp>
        <p:nvSpPr>
          <p:cNvPr id="118616027" name="Google Shape;21;p4"/>
          <p:cNvSpPr txBox="1">
            <a:spLocks noGrp="1"/>
          </p:cNvSpPr>
          <p:nvPr>
            <p:ph type="title" hasCustomPrompt="1"/>
          </p:nvPr>
        </p:nvSpPr>
        <p:spPr bwMode="auto">
          <a:xfrm>
            <a:off x="575734" y="129601"/>
            <a:ext cx="6791568" cy="1028700"/>
          </a:xfrm>
          <a:prstGeom prst="rect">
            <a:avLst/>
          </a:prstGeom>
          <a:ln>
            <a:noFill/>
          </a:ln>
        </p:spPr>
        <p:txBody>
          <a:bodyPr spcFirstLastPara="1" wrap="square" lIns="0" tIns="0" rIns="0" bIns="0" anchor="b" anchorCtr="0">
            <a:noAutofit/>
          </a:bodyPr>
          <a:lstStyle>
            <a:lvl1pPr lvl="0">
              <a:spcBef>
                <a:spcPct val="0"/>
              </a:spcBef>
              <a:spcAft>
                <a:spcPct val="0"/>
              </a:spcAft>
              <a:buSzPts val="3200"/>
              <a:buNone/>
              <a:defRPr sz="3200" b="0">
                <a:solidFill>
                  <a:schemeClr val="tx1"/>
                </a:solidFill>
                <a:latin typeface="+mj-lt"/>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pPr>
              <a:defRPr/>
            </a:pPr>
            <a:r>
              <a:rPr lang="en-IN"/>
              <a:t>Insert single-line title here</a:t>
            </a:r>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matchingName="Title and body" preserve="1" userDrawn="1">
  <p:cSld name="Title and body 1">
    <p:spTree>
      <p:nvGrpSpPr>
        <p:cNvPr id="1" name=""/>
        <p:cNvGrpSpPr/>
        <p:nvPr/>
      </p:nvGrpSpPr>
      <p:grpSpPr>
        <a:xfrm>
          <a:off x="0" y="0"/>
          <a:ext cx="0" cy="0"/>
          <a:chOff x="0" y="0"/>
          <a:chExt cx="0" cy="0"/>
        </a:xfrm>
      </p:grpSpPr>
      <p:sp>
        <p:nvSpPr>
          <p:cNvPr id="934593778" name="Rectangle 2"/>
          <p:cNvSpPr/>
          <p:nvPr userDrawn="1"/>
        </p:nvSpPr>
        <p:spPr bwMode="auto">
          <a:xfrm>
            <a:off x="0" y="1"/>
            <a:ext cx="12192000" cy="1246961"/>
          </a:xfrm>
          <a:prstGeom prst="rect">
            <a:avLst/>
          </a:prstGeom>
          <a:solidFill>
            <a:schemeClr val="tx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algn="ctr">
              <a:defRPr/>
            </a:pPr>
            <a:endParaRPr lang="en-US" sz="2500">
              <a:solidFill>
                <a:schemeClr val="bg1"/>
              </a:solidFill>
            </a:endParaRPr>
          </a:p>
        </p:txBody>
      </p:sp>
      <p:sp>
        <p:nvSpPr>
          <p:cNvPr id="839709495" name="Google Shape;21;p4"/>
          <p:cNvSpPr txBox="1">
            <a:spLocks noGrp="1"/>
          </p:cNvSpPr>
          <p:nvPr>
            <p:ph type="title" hasCustomPrompt="1"/>
          </p:nvPr>
        </p:nvSpPr>
        <p:spPr bwMode="auto">
          <a:xfrm>
            <a:off x="575734" y="131111"/>
            <a:ext cx="11040533" cy="1041197"/>
          </a:xfrm>
          <a:prstGeom prst="rect">
            <a:avLst/>
          </a:prstGeom>
          <a:ln>
            <a:noFill/>
          </a:ln>
        </p:spPr>
        <p:txBody>
          <a:bodyPr spcFirstLastPara="1" wrap="square" lIns="0" tIns="0" rIns="0" bIns="0" anchor="ctr" anchorCtr="0">
            <a:noAutofit/>
          </a:bodyPr>
          <a:lstStyle>
            <a:lvl1pPr lvl="0">
              <a:spcBef>
                <a:spcPct val="0"/>
              </a:spcBef>
              <a:spcAft>
                <a:spcPct val="0"/>
              </a:spcAft>
              <a:buSzPts val="3200"/>
              <a:buNone/>
              <a:defRPr sz="3200" b="0">
                <a:solidFill>
                  <a:schemeClr val="bg1"/>
                </a:solidFill>
                <a:latin typeface="+mj-lt"/>
                <a:ea typeface="Calibri"/>
                <a:cs typeface="Calibri"/>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pPr>
              <a:defRPr/>
            </a:pPr>
            <a:r>
              <a:rPr lang="en-IN"/>
              <a:t>This is a title placeholder which can span 2 lines, so till 20 words is acceptable. Put all subtitles and body BELOW it, not over it</a:t>
            </a:r>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754901467" name="Title 1"/>
          <p:cNvSpPr>
            <a:spLocks noGrp="1"/>
          </p:cNvSpPr>
          <p:nvPr>
            <p:ph type="title" hasCustomPrompt="1"/>
          </p:nvPr>
        </p:nvSpPr>
        <p:spPr bwMode="auto">
          <a:xfrm>
            <a:off x="575733" y="2075395"/>
            <a:ext cx="11040533" cy="1325032"/>
          </a:xfrm>
          <a:prstGeom prst="rect">
            <a:avLst/>
          </a:prstGeom>
        </p:spPr>
        <p:txBody>
          <a:bodyPr anchor="b"/>
          <a:lstStyle>
            <a:lvl1pPr algn="ctr">
              <a:defRPr sz="4800">
                <a:solidFill>
                  <a:schemeClr val="tx1"/>
                </a:solidFill>
              </a:defRPr>
            </a:lvl1pPr>
          </a:lstStyle>
          <a:p>
            <a:pPr>
              <a:defRPr/>
            </a:pPr>
            <a:r>
              <a:rPr lang="en-US"/>
              <a:t>3-4 word section title</a:t>
            </a:r>
            <a:endParaRPr/>
          </a:p>
        </p:txBody>
      </p:sp>
      <p:sp>
        <p:nvSpPr>
          <p:cNvPr id="1094323188" name="Text Placeholder 6"/>
          <p:cNvSpPr>
            <a:spLocks noGrp="1"/>
          </p:cNvSpPr>
          <p:nvPr>
            <p:ph type="body" sz="quarter" idx="10" hasCustomPrompt="1"/>
          </p:nvPr>
        </p:nvSpPr>
        <p:spPr bwMode="auto">
          <a:xfrm>
            <a:off x="575733" y="3494212"/>
            <a:ext cx="11040533" cy="1325032"/>
          </a:xfrm>
          <a:prstGeom prst="rect">
            <a:avLst/>
          </a:prstGeom>
        </p:spPr>
        <p:txBody>
          <a:bodyPr anchor="t"/>
          <a:lstStyle>
            <a:lvl1pPr algn="ctr">
              <a:defRPr lang="en-US" sz="2400">
                <a:solidFill>
                  <a:schemeClr val="accent1"/>
                </a:solidFill>
              </a:defRPr>
            </a:lvl1pPr>
            <a:lvl2pPr>
              <a:defRPr lang="en-US"/>
            </a:lvl2pPr>
            <a:lvl3pPr>
              <a:defRPr lang="en-US"/>
            </a:lvl3pPr>
            <a:lvl4pPr>
              <a:defRPr lang="en-US"/>
            </a:lvl4pPr>
            <a:lvl5pPr>
              <a:defRPr lang="en-US"/>
            </a:lvl5pPr>
          </a:lstStyle>
          <a:p>
            <a:pPr lvl="0" algn="ctr">
              <a:defRPr/>
            </a:pPr>
            <a:r>
              <a:rPr lang="en-US"/>
              <a:t>A longer section subtitle here with 7-10 words</a:t>
            </a:r>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matchingName="Title and body" preserve="1" userDrawn="1">
  <p:cSld name="Half and half">
    <p:bg>
      <p:bgPr>
        <a:solidFill>
          <a:schemeClr val="tx1"/>
        </a:solidFill>
        <a:effectLst/>
      </p:bgPr>
    </p:bg>
    <p:spTree>
      <p:nvGrpSpPr>
        <p:cNvPr id="1" name=""/>
        <p:cNvGrpSpPr/>
        <p:nvPr/>
      </p:nvGrpSpPr>
      <p:grpSpPr>
        <a:xfrm>
          <a:off x="0" y="0"/>
          <a:ext cx="0" cy="0"/>
          <a:chOff x="0" y="0"/>
          <a:chExt cx="0" cy="0"/>
        </a:xfrm>
      </p:grpSpPr>
      <p:sp>
        <p:nvSpPr>
          <p:cNvPr id="459693200" name="Arrow: Pentagon 3"/>
          <p:cNvSpPr/>
          <p:nvPr userDrawn="1"/>
        </p:nvSpPr>
        <p:spPr bwMode="auto">
          <a:xfrm>
            <a:off x="1" y="0"/>
            <a:ext cx="6255433" cy="6858000"/>
          </a:xfrm>
          <a:prstGeom prst="homePlate">
            <a:avLst>
              <a:gd name="adj" fmla="val 5783"/>
            </a:avLst>
          </a:prstGeom>
          <a:solidFill>
            <a:schemeClr val="bg1"/>
          </a:solidFill>
          <a:ln>
            <a:noFill/>
          </a:ln>
          <a:effectLst>
            <a:innerShdw blurRad="63500" dist="508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algn="ctr">
              <a:defRPr/>
            </a:pPr>
            <a:endParaRPr lang="en-US" sz="2500"/>
          </a:p>
        </p:txBody>
      </p:sp>
      <p:sp>
        <p:nvSpPr>
          <p:cNvPr id="1138418781" name="Google Shape;21;p4"/>
          <p:cNvSpPr txBox="1">
            <a:spLocks noGrp="1"/>
          </p:cNvSpPr>
          <p:nvPr>
            <p:ph type="title" hasCustomPrompt="1"/>
          </p:nvPr>
        </p:nvSpPr>
        <p:spPr bwMode="auto">
          <a:xfrm>
            <a:off x="575735" y="129601"/>
            <a:ext cx="4760608" cy="1028700"/>
          </a:xfrm>
          <a:prstGeom prst="rect">
            <a:avLst/>
          </a:prstGeom>
          <a:ln>
            <a:noFill/>
          </a:ln>
        </p:spPr>
        <p:txBody>
          <a:bodyPr spcFirstLastPara="1" wrap="square" lIns="0" tIns="0" rIns="0" bIns="0" anchor="b" anchorCtr="0">
            <a:noAutofit/>
          </a:bodyPr>
          <a:lstStyle>
            <a:lvl1pPr lvl="0">
              <a:spcBef>
                <a:spcPct val="0"/>
              </a:spcBef>
              <a:spcAft>
                <a:spcPct val="0"/>
              </a:spcAft>
              <a:buSzPts val="3200"/>
              <a:buNone/>
              <a:defRPr sz="3200" b="0">
                <a:solidFill>
                  <a:schemeClr val="tx1"/>
                </a:solidFill>
                <a:latin typeface="+mj-lt"/>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pPr>
              <a:defRPr/>
            </a:pPr>
            <a:r>
              <a:rPr lang="en-IN"/>
              <a:t>Insert short title here with 5-8 words max…</a:t>
            </a:r>
            <a:endParaRPr/>
          </a:p>
        </p:txBody>
      </p:sp>
      <p:sp>
        <p:nvSpPr>
          <p:cNvPr id="1919682378" name="Text Placeholder 18"/>
          <p:cNvSpPr>
            <a:spLocks noGrp="1"/>
          </p:cNvSpPr>
          <p:nvPr>
            <p:ph type="body" sz="quarter" idx="14" hasCustomPrompt="1"/>
          </p:nvPr>
        </p:nvSpPr>
        <p:spPr bwMode="auto">
          <a:xfrm>
            <a:off x="6671738" y="129601"/>
            <a:ext cx="4943901" cy="1028700"/>
          </a:xfrm>
          <a:prstGeom prst="rect">
            <a:avLst/>
          </a:prstGeom>
          <a:ln>
            <a:noFill/>
          </a:ln>
        </p:spPr>
        <p:txBody>
          <a:bodyPr spcFirstLastPara="1" wrap="square" lIns="0" tIns="0" rIns="0" bIns="0" anchor="b" anchorCtr="0">
            <a:noAutofit/>
          </a:bodyPr>
          <a:lstStyle>
            <a:lvl1pPr>
              <a:defRPr lang="en-US" sz="3200" b="0">
                <a:solidFill>
                  <a:schemeClr val="bg1"/>
                </a:solidFill>
                <a:latin typeface="+mj-lt"/>
              </a:defRPr>
            </a:lvl1pPr>
            <a:lvl2pPr>
              <a:defRPr lang="en-US"/>
            </a:lvl2pPr>
            <a:lvl3pPr>
              <a:defRPr lang="en-US"/>
            </a:lvl3pPr>
            <a:lvl4pPr>
              <a:defRPr lang="en-US"/>
            </a:lvl4pPr>
            <a:lvl5pPr>
              <a:defRPr lang="en-US"/>
            </a:lvl5pPr>
          </a:lstStyle>
          <a:p>
            <a:pPr lvl="0">
              <a:defRPr/>
            </a:pPr>
            <a:r>
              <a:rPr lang="en-US"/>
              <a:t>…finish the left title here or remove it to use for content</a:t>
            </a:r>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End Layout">
    <p:spTree>
      <p:nvGrpSpPr>
        <p:cNvPr id="1" name=""/>
        <p:cNvGrpSpPr/>
        <p:nvPr/>
      </p:nvGrpSpPr>
      <p:grpSpPr>
        <a:xfrm>
          <a:off x="0" y="0"/>
          <a:ext cx="0" cy="0"/>
          <a:chOff x="0" y="0"/>
          <a:chExt cx="0" cy="0"/>
        </a:xfrm>
      </p:grpSpPr>
      <p:sp>
        <p:nvSpPr>
          <p:cNvPr id="28410726" name="Text Placeholder 5"/>
          <p:cNvSpPr>
            <a:spLocks noGrp="1"/>
          </p:cNvSpPr>
          <p:nvPr>
            <p:ph type="body" sz="quarter" idx="11" hasCustomPrompt="1"/>
          </p:nvPr>
        </p:nvSpPr>
        <p:spPr bwMode="auto">
          <a:xfrm>
            <a:off x="1624013" y="2381250"/>
            <a:ext cx="8943975" cy="2095500"/>
          </a:xfrm>
          <a:prstGeom prst="rect">
            <a:avLst/>
          </a:prstGeom>
        </p:spPr>
        <p:txBody>
          <a:bodyPr/>
          <a:lstStyle>
            <a:lvl1pPr algn="ctr">
              <a:defRPr sz="6000">
                <a:latin typeface="+mj-lt"/>
              </a:defRPr>
            </a:lvl1pPr>
          </a:lstStyle>
          <a:p>
            <a:pPr lvl="0">
              <a:defRPr/>
            </a:pPr>
            <a:r>
              <a:rPr lang="en-US"/>
              <a:t>Thanks</a:t>
            </a:r>
            <a:endParaRPr/>
          </a:p>
          <a:p>
            <a:pPr lvl="0">
              <a:defRPr/>
            </a:pPr>
            <a:r>
              <a:rPr lang="en-US"/>
              <a:t>Q&amp;A</a:t>
            </a: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417462222" name="Google Shape;23;p4"/>
          <p:cNvSpPr txBox="1">
            <a:spLocks noGrp="1"/>
          </p:cNvSpPr>
          <p:nvPr>
            <p:ph type="sldNum" idx="4"/>
          </p:nvPr>
        </p:nvSpPr>
        <p:spPr bwMode="auto">
          <a:xfrm>
            <a:off x="11284829" y="6309785"/>
            <a:ext cx="331437" cy="227004"/>
          </a:xfrm>
          <a:prstGeom prst="rect">
            <a:avLst/>
          </a:prstGeom>
        </p:spPr>
        <p:txBody>
          <a:bodyPr spcFirstLastPara="1" wrap="square" lIns="0" tIns="0" rIns="0" bIns="0" anchor="ctr" anchorCtr="0">
            <a:noAutofit/>
          </a:bodyPr>
          <a:lstStyle>
            <a:lvl1pPr lvl="0" algn="r">
              <a:buNone/>
              <a:defRPr sz="1600">
                <a:solidFill>
                  <a:schemeClr val="tx2"/>
                </a:solidFill>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en"/>
              <a:t>‹#›</a:t>
            </a:fld>
            <a:endParaRPr lang="en" sz="160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1pPr>
      <a:lvl2pPr marR="0" lvl="1"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2pPr>
      <a:lvl3pPr marR="0" lvl="2"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3pPr>
      <a:lvl4pPr marR="0" lvl="3"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4pPr>
      <a:lvl5pPr marR="0" lvl="4"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5pPr>
      <a:lvl6pPr marR="0" lvl="5"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6pPr>
      <a:lvl7pPr marR="0" lvl="6"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7pPr>
      <a:lvl8pPr marR="0" lvl="7"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8pPr>
      <a:lvl9pPr marR="0" lvl="8"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1pPr>
      <a:lvl2pPr marR="0" lvl="1"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2pPr>
      <a:lvl3pPr marR="0" lvl="2"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3pPr>
      <a:lvl4pPr marR="0" lvl="3"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4pPr>
      <a:lvl5pPr marR="0" lvl="4"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5pPr>
      <a:lvl6pPr marR="0" lvl="5"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6pPr>
      <a:lvl7pPr marR="0" lvl="6"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7pPr>
      <a:lvl8pPr marR="0" lvl="7"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8pPr>
      <a:lvl9pPr marR="0" lvl="8"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1pPr>
      <a:lvl2pPr marR="0" lvl="1"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2pPr>
      <a:lvl3pPr marR="0" lvl="2"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3pPr>
      <a:lvl4pPr marR="0" lvl="3"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4pPr>
      <a:lvl5pPr marR="0" lvl="4"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5pPr>
      <a:lvl6pPr marR="0" lvl="5"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6pPr>
      <a:lvl7pPr marR="0" lvl="6"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7pPr>
      <a:lvl8pPr marR="0" lvl="7"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8pPr>
      <a:lvl9pPr marR="0" lvl="8" algn="l" rtl="0">
        <a:lnSpc>
          <a:spcPct val="100000"/>
        </a:lnSpc>
        <a:spcBef>
          <a:spcPct val="0"/>
        </a:spcBef>
        <a:spcAft>
          <a:spcPct val="0"/>
        </a:spcAft>
        <a:buClr>
          <a:srgbClr val="000000"/>
        </a:buClr>
        <a:buFont typeface="Arial"/>
        <a:defRPr sz="1850" b="0" i="0" u="none" strike="noStrik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5.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26.png"/><Relationship Id="rId7"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27.svg"/></Relationships>
</file>

<file path=ppt/slides/_rels/slide21.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40.png"/><Relationship Id="rId7"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41.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6595803" name="Title 3"/>
          <p:cNvSpPr>
            <a:spLocks noGrp="1"/>
          </p:cNvSpPr>
          <p:nvPr>
            <p:ph type="title" hasCustomPrompt="1"/>
          </p:nvPr>
        </p:nvSpPr>
        <p:spPr bwMode="auto">
          <a:xfrm>
            <a:off x="575733" y="1790389"/>
            <a:ext cx="5520267" cy="2316255"/>
          </a:xfrm>
          <a:prstGeom prst="rect">
            <a:avLst/>
          </a:prstGeom>
          <a:noFill/>
          <a:ln w="0">
            <a:noFill/>
          </a:ln>
        </p:spPr>
        <p:txBody>
          <a:bodyPr anchor="b"/>
          <a:lstStyle>
            <a:lvl1pPr>
              <a:defRPr sz="4800" b="1">
                <a:solidFill>
                  <a:schemeClr val="tx1"/>
                </a:solidFill>
                <a:latin typeface="+mj-lt"/>
              </a:defRPr>
            </a:lvl1pPr>
          </a:lstStyle>
          <a:p>
            <a:pPr>
              <a:defRPr/>
            </a:pPr>
            <a:r>
              <a:rPr b="1" i="0" u="none" dirty="0">
                <a:solidFill>
                  <a:schemeClr val="lt2"/>
                </a:solidFill>
                <a:latin typeface="+mj-lt"/>
              </a:rPr>
              <a:t>High Cloud Airlines:</a:t>
            </a:r>
            <a:endParaRPr dirty="0"/>
          </a:p>
          <a:p>
            <a:pPr>
              <a:defRPr/>
            </a:pPr>
            <a:r>
              <a:rPr b="1" i="0" u="none" dirty="0">
                <a:solidFill>
                  <a:schemeClr val="lt2"/>
                </a:solidFill>
                <a:latin typeface="+mj-lt"/>
              </a:rPr>
              <a:t>A Strategic</a:t>
            </a:r>
            <a:endParaRPr dirty="0"/>
          </a:p>
          <a:p>
            <a:pPr>
              <a:defRPr/>
            </a:pPr>
            <a:r>
              <a:rPr b="1" i="0" u="none" dirty="0">
                <a:solidFill>
                  <a:schemeClr val="lt2"/>
                </a:solidFill>
                <a:latin typeface="+mj-lt"/>
              </a:rPr>
              <a:t>Performance Review</a:t>
            </a:r>
            <a:endParaRPr dirty="0"/>
          </a:p>
        </p:txBody>
      </p:sp>
      <p:sp>
        <p:nvSpPr>
          <p:cNvPr id="1351705539" name="New shape"/>
          <p:cNvSpPr/>
          <p:nvPr/>
        </p:nvSpPr>
        <p:spPr bwMode="auto">
          <a:xfrm>
            <a:off x="575310" y="4254500"/>
            <a:ext cx="5520690" cy="1016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91440" rIns="91440" bIns="91440" rtlCol="0" anchor="t"/>
          <a:lstStyle/>
          <a:p>
            <a:pPr marL="0" marR="0" indent="0" algn="l">
              <a:lnSpc>
                <a:spcPct val="100000"/>
              </a:lnSpc>
              <a:spcBef>
                <a:spcPct val="0"/>
              </a:spcBef>
              <a:spcAft>
                <a:spcPct val="0"/>
              </a:spcAft>
              <a:buNone/>
              <a:defRPr/>
            </a:pPr>
            <a:r>
              <a:rPr sz="2400" b="0" i="0" u="none" dirty="0">
                <a:solidFill>
                  <a:schemeClr val="accent1"/>
                </a:solidFill>
                <a:latin typeface="+mn-lt"/>
              </a:rPr>
              <a:t>Analysis Prepared </a:t>
            </a:r>
            <a:r>
              <a:rPr lang="en-US" sz="2400" b="0" i="0" u="none" dirty="0">
                <a:solidFill>
                  <a:schemeClr val="accent1"/>
                </a:solidFill>
                <a:latin typeface="+mn-lt"/>
              </a:rPr>
              <a:t>by Grou</a:t>
            </a:r>
            <a:r>
              <a:rPr lang="en-US" sz="2400" dirty="0">
                <a:solidFill>
                  <a:schemeClr val="accent1"/>
                </a:solidFill>
              </a:rPr>
              <a:t>p No. 5</a:t>
            </a:r>
            <a:endParaRPr dirty="0"/>
          </a:p>
          <a:p>
            <a:pPr marL="0" marR="0" indent="0" algn="l">
              <a:lnSpc>
                <a:spcPct val="100000"/>
              </a:lnSpc>
              <a:spcBef>
                <a:spcPct val="0"/>
              </a:spcBef>
              <a:spcAft>
                <a:spcPct val="0"/>
              </a:spcAft>
              <a:buNone/>
              <a:defRPr/>
            </a:pPr>
            <a:r>
              <a:rPr lang="en-US" sz="2400" b="0" i="0" u="none" dirty="0">
                <a:solidFill>
                  <a:schemeClr val="accent1"/>
                </a:solidFill>
                <a:latin typeface="+mn-lt"/>
              </a:rPr>
              <a:t>Presented by Vaishnavi &amp; </a:t>
            </a:r>
            <a:r>
              <a:rPr lang="en-US" sz="2400" b="0" i="0" u="none" dirty="0" err="1">
                <a:solidFill>
                  <a:schemeClr val="accent1"/>
                </a:solidFill>
                <a:latin typeface="+mn-lt"/>
              </a:rPr>
              <a:t>Adwaith</a:t>
            </a:r>
            <a:endParaRPr dirty="0"/>
          </a:p>
        </p:txBody>
      </p:sp>
      <p:pic>
        <p:nvPicPr>
          <p:cNvPr id="1240206144" name="New picture"/>
          <p:cNvPicPr/>
          <p:nvPr/>
        </p:nvPicPr>
        <p:blipFill>
          <a:blip r:embed="rId3"/>
          <a:srcRect l="20370" r="20370"/>
          <a:stretch>
            <a:fillRect/>
          </a:stretch>
        </p:blipFill>
        <p:spPr bwMode="auto">
          <a:xfrm>
            <a:off x="6096000" y="0"/>
            <a:ext cx="6096000" cy="6858000"/>
          </a:xfrm>
          <a:prstGeom prst="rect">
            <a:avLst/>
          </a:prstGeom>
        </p:spPr>
      </p:pic>
      <p:sp>
        <p:nvSpPr>
          <p:cNvPr id="171953280" name="Rectangle 171953279"/>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SLIDELY_ONLY_OFFICE_SLIDE_ID_141511757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2250585" name="Google Shape;21;p4"/>
          <p:cNvSpPr txBox="1">
            <a:spLocks noGrp="1"/>
          </p:cNvSpPr>
          <p:nvPr>
            <p:ph type="title" hasCustomPrompt="1"/>
          </p:nvPr>
        </p:nvSpPr>
        <p:spPr bwMode="auto">
          <a:xfrm>
            <a:off x="575734" y="129601"/>
            <a:ext cx="6791568" cy="1028700"/>
          </a:xfrm>
          <a:prstGeom prst="rect">
            <a:avLst/>
          </a:prstGeom>
          <a:noFill/>
          <a:ln w="0">
            <a:noFill/>
          </a:ln>
        </p:spPr>
        <p:txBody>
          <a:bodyPr spcFirstLastPara="1" wrap="square" lIns="0" tIns="0" rIns="0" bIns="0" anchor="b" anchorCtr="0">
            <a:noAutofit/>
          </a:bodyPr>
          <a:lstStyle>
            <a:lvl1pPr lvl="0">
              <a:spcBef>
                <a:spcPct val="0"/>
              </a:spcBef>
              <a:spcAft>
                <a:spcPct val="0"/>
              </a:spcAft>
              <a:buSzPts val="3200"/>
              <a:buNone/>
              <a:defRPr sz="3200" b="0">
                <a:solidFill>
                  <a:schemeClr val="tx1"/>
                </a:solidFill>
                <a:latin typeface="+mj-lt"/>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pPr>
              <a:defRPr/>
            </a:pPr>
            <a:r>
              <a:rPr b="0" i="0" u="none">
                <a:solidFill>
                  <a:schemeClr val="lt2"/>
                </a:solidFill>
                <a:latin typeface="+mj-lt"/>
              </a:rPr>
              <a:t>Objective: Unlocking Operational Excellence Through Data-Driven Analysis</a:t>
            </a:r>
            <a:endParaRPr/>
          </a:p>
        </p:txBody>
      </p:sp>
      <p:sp>
        <p:nvSpPr>
          <p:cNvPr id="2029808069" name="New shape"/>
          <p:cNvSpPr/>
          <p:nvPr/>
        </p:nvSpPr>
        <p:spPr bwMode="auto">
          <a:xfrm>
            <a:off x="575310" y="1397000"/>
            <a:ext cx="6858000" cy="635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000" b="0" i="0" u="none">
                <a:solidFill>
                  <a:schemeClr val="lt2"/>
                </a:solidFill>
                <a:latin typeface="+mn-lt"/>
              </a:rPr>
              <a:t>To gain a comprehensive understanding of High Cloud Airlines' operations from 2008-2013 through rigorous data analysis.</a:t>
            </a:r>
            <a:endParaRPr/>
          </a:p>
        </p:txBody>
      </p:sp>
      <p:sp>
        <p:nvSpPr>
          <p:cNvPr id="523541558" name="New shape"/>
          <p:cNvSpPr/>
          <p:nvPr/>
        </p:nvSpPr>
        <p:spPr bwMode="auto">
          <a:xfrm>
            <a:off x="575310" y="2349500"/>
            <a:ext cx="6604000" cy="444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200" b="1" i="0" u="none">
                <a:solidFill>
                  <a:schemeClr val="lt2"/>
                </a:solidFill>
                <a:latin typeface="+mn-lt"/>
              </a:rPr>
              <a:t>Areas of Investigation:</a:t>
            </a:r>
            <a:endParaRPr/>
          </a:p>
        </p:txBody>
      </p:sp>
      <p:pic>
        <p:nvPicPr>
          <p:cNvPr id="847479959" name="New picture"/>
          <p:cNvPicPr/>
          <p:nvPr/>
        </p:nvPicPr>
        <p:blipFill>
          <a:blip r:embed="rId3">
            <a:extLst>
              <a:ext uri="{96DAC541-7B7A-43D3-8B79-37D633B846F1}">
                <asvg:svgBlip xmlns:asvg="http://schemas.microsoft.com/office/drawing/2016/SVG/main" r:embed="rId4"/>
              </a:ext>
            </a:extLst>
          </a:blip>
          <a:stretch>
            <a:fillRect/>
          </a:stretch>
        </p:blipFill>
        <p:spPr bwMode="auto">
          <a:xfrm>
            <a:off x="575310" y="3111500"/>
            <a:ext cx="609600" cy="609600"/>
          </a:xfrm>
          <a:prstGeom prst="rect">
            <a:avLst/>
          </a:prstGeom>
        </p:spPr>
      </p:pic>
      <p:sp>
        <p:nvSpPr>
          <p:cNvPr id="1355797580" name="New shape"/>
          <p:cNvSpPr/>
          <p:nvPr/>
        </p:nvSpPr>
        <p:spPr bwMode="auto">
          <a:xfrm>
            <a:off x="1333500" y="3111500"/>
            <a:ext cx="6350000" cy="6096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1800" b="1" i="0" u="none">
                <a:solidFill>
                  <a:schemeClr val="lt2"/>
                </a:solidFill>
                <a:latin typeface="+mn-lt"/>
              </a:rPr>
              <a:t>Load Factor Dynamics: </a:t>
            </a:r>
            <a:r>
              <a:rPr sz="1800" b="0" i="0" u="none">
                <a:solidFill>
                  <a:schemeClr val="lt2"/>
                </a:solidFill>
                <a:latin typeface="+mn-lt"/>
              </a:rPr>
              <a:t>Analyzing utilization trends over time.</a:t>
            </a:r>
            <a:endParaRPr/>
          </a:p>
        </p:txBody>
      </p:sp>
      <p:pic>
        <p:nvPicPr>
          <p:cNvPr id="1691869256" name="New picture"/>
          <p:cNvPicPr/>
          <p:nvPr/>
        </p:nvPicPr>
        <p:blipFill>
          <a:blip r:embed="rId5">
            <a:extLst>
              <a:ext uri="{96DAC541-7B7A-43D3-8B79-37D633B846F1}">
                <asvg:svgBlip xmlns:asvg="http://schemas.microsoft.com/office/drawing/2016/SVG/main" r:embed="rId6"/>
              </a:ext>
            </a:extLst>
          </a:blip>
          <a:stretch>
            <a:fillRect/>
          </a:stretch>
        </p:blipFill>
        <p:spPr bwMode="auto">
          <a:xfrm>
            <a:off x="575310" y="4191000"/>
            <a:ext cx="609600" cy="609600"/>
          </a:xfrm>
          <a:prstGeom prst="rect">
            <a:avLst/>
          </a:prstGeom>
        </p:spPr>
      </p:pic>
      <p:sp>
        <p:nvSpPr>
          <p:cNvPr id="1930360118" name="New shape"/>
          <p:cNvSpPr/>
          <p:nvPr/>
        </p:nvSpPr>
        <p:spPr bwMode="auto">
          <a:xfrm>
            <a:off x="1333500" y="4191000"/>
            <a:ext cx="6350000" cy="6096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1800" b="1" i="0" u="none">
                <a:solidFill>
                  <a:schemeClr val="lt2"/>
                </a:solidFill>
                <a:latin typeface="+mn-lt"/>
              </a:rPr>
              <a:t>Competitive Landscape: </a:t>
            </a:r>
            <a:r>
              <a:rPr sz="1800" b="0" i="0" u="none">
                <a:solidFill>
                  <a:schemeClr val="lt2"/>
                </a:solidFill>
                <a:latin typeface="+mn-lt"/>
              </a:rPr>
              <a:t>Identifying top carriers and market positioning.</a:t>
            </a:r>
            <a:endParaRPr/>
          </a:p>
        </p:txBody>
      </p:sp>
      <p:pic>
        <p:nvPicPr>
          <p:cNvPr id="519174386" name="New picture"/>
          <p:cNvPicPr/>
          <p:nvPr/>
        </p:nvPicPr>
        <p:blipFill>
          <a:blip r:embed="rId7">
            <a:extLst>
              <a:ext uri="{96DAC541-7B7A-43D3-8B79-37D633B846F1}">
                <asvg:svgBlip xmlns:asvg="http://schemas.microsoft.com/office/drawing/2016/SVG/main" r:embed="rId8"/>
              </a:ext>
            </a:extLst>
          </a:blip>
          <a:stretch>
            <a:fillRect/>
          </a:stretch>
        </p:blipFill>
        <p:spPr bwMode="auto">
          <a:xfrm>
            <a:off x="575310" y="5270500"/>
            <a:ext cx="609600" cy="609600"/>
          </a:xfrm>
          <a:prstGeom prst="rect">
            <a:avLst/>
          </a:prstGeom>
        </p:spPr>
      </p:pic>
      <p:sp>
        <p:nvSpPr>
          <p:cNvPr id="199436308" name="New shape"/>
          <p:cNvSpPr/>
          <p:nvPr/>
        </p:nvSpPr>
        <p:spPr bwMode="auto">
          <a:xfrm>
            <a:off x="1333500" y="5270500"/>
            <a:ext cx="6350000" cy="6096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1800" b="1" i="0" u="none">
                <a:solidFill>
                  <a:schemeClr val="lt2"/>
                </a:solidFill>
                <a:latin typeface="+mn-lt"/>
              </a:rPr>
              <a:t>Network &amp; Route Analysis: </a:t>
            </a:r>
            <a:r>
              <a:rPr sz="1800" b="0" i="0" u="none">
                <a:solidFill>
                  <a:schemeClr val="lt2"/>
                </a:solidFill>
                <a:latin typeface="+mn-lt"/>
              </a:rPr>
              <a:t>Pinpointing popular routes and demand patterns.</a:t>
            </a:r>
            <a:endParaRPr/>
          </a:p>
        </p:txBody>
      </p:sp>
      <p:sp>
        <p:nvSpPr>
          <p:cNvPr id="35227016" name="New shape"/>
          <p:cNvSpPr/>
          <p:nvPr/>
        </p:nvSpPr>
        <p:spPr bwMode="auto">
          <a:xfrm>
            <a:off x="8509000" y="1524000"/>
            <a:ext cx="3302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800" b="1" i="0" u="none">
                <a:solidFill>
                  <a:schemeClr val="lt1"/>
                </a:solidFill>
                <a:latin typeface="+mj-lt"/>
              </a:rPr>
              <a:t>Ultimate Goal</a:t>
            </a:r>
            <a:endParaRPr/>
          </a:p>
        </p:txBody>
      </p:sp>
      <p:sp>
        <p:nvSpPr>
          <p:cNvPr id="2102219834" name="New shape"/>
          <p:cNvSpPr/>
          <p:nvPr/>
        </p:nvSpPr>
        <p:spPr bwMode="auto">
          <a:xfrm>
            <a:off x="8509000" y="2286000"/>
            <a:ext cx="3302000" cy="2540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20000"/>
              </a:lnSpc>
              <a:spcBef>
                <a:spcPct val="0"/>
              </a:spcBef>
              <a:spcAft>
                <a:spcPct val="0"/>
              </a:spcAft>
              <a:buNone/>
              <a:defRPr/>
            </a:pPr>
            <a:r>
              <a:rPr sz="2200" b="0" i="0" u="none">
                <a:solidFill>
                  <a:schemeClr val="lt1"/>
                </a:solidFill>
                <a:latin typeface="+mn-lt"/>
              </a:rPr>
              <a:t>The ultimate goal is to generate actionable recommendations that enhance operational efficiency and drive profitability.</a:t>
            </a:r>
            <a:endParaRPr/>
          </a:p>
        </p:txBody>
      </p:sp>
      <p:pic>
        <p:nvPicPr>
          <p:cNvPr id="1896450179" name="New picture"/>
          <p:cNvPicPr/>
          <p:nvPr/>
        </p:nvPicPr>
        <p:blipFill>
          <a:blip r:embed="rId9">
            <a:extLst>
              <a:ext uri="{96DAC541-7B7A-43D3-8B79-37D633B846F1}">
                <asvg:svgBlip xmlns:asvg="http://schemas.microsoft.com/office/drawing/2016/SVG/main" r:embed="rId10"/>
              </a:ext>
            </a:extLst>
          </a:blip>
          <a:stretch>
            <a:fillRect/>
          </a:stretch>
        </p:blipFill>
        <p:spPr bwMode="auto">
          <a:xfrm>
            <a:off x="8509000" y="5207000"/>
            <a:ext cx="825500" cy="825500"/>
          </a:xfrm>
          <a:prstGeom prst="rect">
            <a:avLst/>
          </a:prstGeom>
        </p:spPr>
      </p:pic>
      <p:sp>
        <p:nvSpPr>
          <p:cNvPr id="905530591" name="Rectangle 905530590"/>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SLIDELY_ONLY_OFFICE_SLIDE_ID_112493251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3645821" name="Google Shape;21;p4"/>
          <p:cNvSpPr txBox="1">
            <a:spLocks noGrp="1"/>
          </p:cNvSpPr>
          <p:nvPr>
            <p:ph type="title" hasCustomPrompt="1"/>
          </p:nvPr>
        </p:nvSpPr>
        <p:spPr bwMode="auto">
          <a:xfrm>
            <a:off x="575734" y="131111"/>
            <a:ext cx="11040533" cy="1041197"/>
          </a:xfrm>
          <a:prstGeom prst="rect">
            <a:avLst/>
          </a:prstGeom>
          <a:noFill/>
          <a:ln w="0">
            <a:noFill/>
          </a:ln>
        </p:spPr>
        <p:txBody>
          <a:bodyPr spcFirstLastPara="1" wrap="square" lIns="0" tIns="0" rIns="0" bIns="0" anchor="ctr" anchorCtr="0">
            <a:noAutofit/>
          </a:bodyPr>
          <a:lstStyle>
            <a:lvl1pPr lvl="0">
              <a:spcBef>
                <a:spcPct val="0"/>
              </a:spcBef>
              <a:spcAft>
                <a:spcPct val="0"/>
              </a:spcAft>
              <a:buSzPts val="3200"/>
              <a:buNone/>
              <a:defRPr sz="3200" b="0">
                <a:solidFill>
                  <a:schemeClr val="bg1"/>
                </a:solidFill>
                <a:latin typeface="+mj-lt"/>
                <a:ea typeface="Calibri"/>
                <a:cs typeface="Calibri"/>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pPr>
              <a:defRPr/>
            </a:pPr>
            <a:r>
              <a:rPr sz="2800" b="0" i="0" u="none">
                <a:solidFill>
                  <a:schemeClr val="lt1"/>
                </a:solidFill>
                <a:latin typeface="+mj-lt"/>
              </a:rPr>
              <a:t>Our analysis is rooted in a well-defined scope and a robust, multi-step methodology</a:t>
            </a:r>
            <a:endParaRPr/>
          </a:p>
        </p:txBody>
      </p:sp>
      <p:pic>
        <p:nvPicPr>
          <p:cNvPr id="2062061673" name="New picture"/>
          <p:cNvPicPr/>
          <p:nvPr/>
        </p:nvPicPr>
        <p:blipFill>
          <a:blip r:embed="rId3">
            <a:extLst>
              <a:ext uri="{96DAC541-7B7A-43D3-8B79-37D633B846F1}">
                <asvg:svgBlip xmlns:asvg="http://schemas.microsoft.com/office/drawing/2016/SVG/main" r:embed="rId4"/>
              </a:ext>
            </a:extLst>
          </a:blip>
          <a:stretch>
            <a:fillRect/>
          </a:stretch>
        </p:blipFill>
        <p:spPr bwMode="auto">
          <a:xfrm>
            <a:off x="508000" y="1524000"/>
            <a:ext cx="381000" cy="381000"/>
          </a:xfrm>
          <a:prstGeom prst="rect">
            <a:avLst/>
          </a:prstGeom>
        </p:spPr>
      </p:pic>
      <p:sp>
        <p:nvSpPr>
          <p:cNvPr id="1603087751" name="New shape"/>
          <p:cNvSpPr/>
          <p:nvPr/>
        </p:nvSpPr>
        <p:spPr bwMode="auto">
          <a:xfrm>
            <a:off x="1016000" y="1460500"/>
            <a:ext cx="3048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ctr"/>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000" b="1" i="0" u="none">
                <a:solidFill>
                  <a:schemeClr val="lt2"/>
                </a:solidFill>
                <a:latin typeface="+mj-lt"/>
              </a:rPr>
              <a:t>Analytical Scope</a:t>
            </a:r>
            <a:endParaRPr/>
          </a:p>
        </p:txBody>
      </p:sp>
      <p:sp>
        <p:nvSpPr>
          <p:cNvPr id="231000604" name="New shape"/>
          <p:cNvSpPr/>
          <p:nvPr/>
        </p:nvSpPr>
        <p:spPr bwMode="auto">
          <a:xfrm>
            <a:off x="508000" y="2286000"/>
            <a:ext cx="3683000" cy="406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457200" marR="0" indent="-342900" algn="l">
              <a:lnSpc>
                <a:spcPct val="100000"/>
              </a:lnSpc>
              <a:spcBef>
                <a:spcPct val="0"/>
              </a:spcBef>
              <a:spcAft>
                <a:spcPct val="0"/>
              </a:spcAft>
              <a:buFont typeface="Wingdings" panose="05000000000000000000" pitchFamily="2" charset="2"/>
              <a:buChar char="§"/>
              <a:defRPr/>
            </a:pPr>
            <a:r>
              <a:rPr sz="2200" b="0" i="0" u="none" dirty="0">
                <a:solidFill>
                  <a:schemeClr val="lt2"/>
                </a:solidFill>
                <a:latin typeface="+mn-lt"/>
              </a:rPr>
              <a:t>Load Factor &amp; Capacity Utilization</a:t>
            </a:r>
            <a:endParaRPr dirty="0"/>
          </a:p>
          <a:p>
            <a:pPr marL="342900" marR="0" indent="-228600" algn="l">
              <a:lnSpc>
                <a:spcPct val="100000"/>
              </a:lnSpc>
              <a:spcBef>
                <a:spcPct val="0"/>
              </a:spcBef>
              <a:spcAft>
                <a:spcPct val="0"/>
              </a:spcAft>
              <a:buChar char="•"/>
              <a:defRPr/>
            </a:pPr>
            <a:r>
              <a:rPr sz="2200" b="0" i="0" u="none" dirty="0">
                <a:solidFill>
                  <a:schemeClr val="lt2"/>
                </a:solidFill>
                <a:latin typeface="+mn-lt"/>
              </a:rPr>
              <a:t>Passenger Preferences &amp; Carrier Choice</a:t>
            </a:r>
            <a:endParaRPr dirty="0"/>
          </a:p>
          <a:p>
            <a:pPr marL="342900" marR="0" indent="-228600" algn="l">
              <a:lnSpc>
                <a:spcPct val="100000"/>
              </a:lnSpc>
              <a:spcBef>
                <a:spcPct val="0"/>
              </a:spcBef>
              <a:spcAft>
                <a:spcPct val="0"/>
              </a:spcAft>
              <a:buChar char="•"/>
              <a:defRPr/>
            </a:pPr>
            <a:r>
              <a:rPr sz="2200" b="0" i="0" u="none" dirty="0">
                <a:solidFill>
                  <a:schemeClr val="lt2"/>
                </a:solidFill>
                <a:latin typeface="+mn-lt"/>
              </a:rPr>
              <a:t>Popular Routes &amp; Network Flow</a:t>
            </a:r>
            <a:endParaRPr dirty="0"/>
          </a:p>
          <a:p>
            <a:pPr marL="342900" marR="0" indent="-228600" algn="l">
              <a:lnSpc>
                <a:spcPct val="100000"/>
              </a:lnSpc>
              <a:spcBef>
                <a:spcPct val="0"/>
              </a:spcBef>
              <a:spcAft>
                <a:spcPct val="0"/>
              </a:spcAft>
              <a:buChar char="•"/>
              <a:defRPr/>
            </a:pPr>
            <a:r>
              <a:rPr sz="2200" b="0" i="0" u="none" dirty="0">
                <a:solidFill>
                  <a:schemeClr val="lt2"/>
                </a:solidFill>
                <a:latin typeface="+mn-lt"/>
              </a:rPr>
              <a:t>Overall Operational Efficiency</a:t>
            </a:r>
            <a:endParaRPr dirty="0"/>
          </a:p>
        </p:txBody>
      </p:sp>
      <p:sp>
        <p:nvSpPr>
          <p:cNvPr id="1607569160" name="New shape"/>
          <p:cNvSpPr/>
          <p:nvPr/>
        </p:nvSpPr>
        <p:spPr bwMode="auto">
          <a:xfrm flipH="1">
            <a:off x="4445000" y="1587500"/>
            <a:ext cx="0" cy="4699000"/>
          </a:xfrm>
          <a:prstGeom prst="straightConnector1">
            <a:avLst/>
          </a:prstGeom>
          <a:noFill/>
          <a:ln w="19050" cmpd="sng">
            <a:solidFill>
              <a:schemeClr val="lt2">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a:defRPr sz="1800">
                <a:solidFill>
                  <a:srgbClr val="042440"/>
                </a:solidFill>
                <a:latin typeface="Calibri"/>
                <a:ea typeface="+mn-ea"/>
                <a:cs typeface="+mn-cs"/>
              </a:defRPr>
            </a:lvl1pPr>
            <a:lvl2pPr marL="457200" algn="l" defTabSz="914400" rtl="0">
              <a:defRPr sz="1800">
                <a:solidFill>
                  <a:srgbClr val="042440"/>
                </a:solidFill>
                <a:latin typeface="Calibri"/>
                <a:ea typeface="+mn-ea"/>
                <a:cs typeface="+mn-cs"/>
              </a:defRPr>
            </a:lvl2pPr>
            <a:lvl3pPr marL="914400" algn="l" defTabSz="914400" rtl="0">
              <a:defRPr sz="1800">
                <a:solidFill>
                  <a:srgbClr val="042440"/>
                </a:solidFill>
                <a:latin typeface="Calibri"/>
                <a:ea typeface="+mn-ea"/>
                <a:cs typeface="+mn-cs"/>
              </a:defRPr>
            </a:lvl3pPr>
            <a:lvl4pPr marL="1371600" algn="l" defTabSz="914400" rtl="0">
              <a:defRPr sz="1800">
                <a:solidFill>
                  <a:srgbClr val="042440"/>
                </a:solidFill>
                <a:latin typeface="Calibri"/>
                <a:ea typeface="+mn-ea"/>
                <a:cs typeface="+mn-cs"/>
              </a:defRPr>
            </a:lvl4pPr>
            <a:lvl5pPr marL="1828800" algn="l" defTabSz="914400" rtl="0">
              <a:defRPr sz="1800">
                <a:solidFill>
                  <a:srgbClr val="042440"/>
                </a:solidFill>
                <a:latin typeface="Calibri"/>
                <a:ea typeface="+mn-ea"/>
                <a:cs typeface="+mn-cs"/>
              </a:defRPr>
            </a:lvl5pPr>
            <a:lvl6pPr marL="2286000" algn="l" defTabSz="914400" rtl="0">
              <a:defRPr sz="1800">
                <a:solidFill>
                  <a:srgbClr val="042440"/>
                </a:solidFill>
                <a:latin typeface="Calibri"/>
                <a:ea typeface="+mn-ea"/>
                <a:cs typeface="+mn-cs"/>
              </a:defRPr>
            </a:lvl6pPr>
            <a:lvl7pPr marL="2743200" algn="l" defTabSz="914400" rtl="0">
              <a:defRPr sz="1800">
                <a:solidFill>
                  <a:srgbClr val="042440"/>
                </a:solidFill>
                <a:latin typeface="Calibri"/>
                <a:ea typeface="+mn-ea"/>
                <a:cs typeface="+mn-cs"/>
              </a:defRPr>
            </a:lvl7pPr>
            <a:lvl8pPr marL="3200400" algn="l" defTabSz="914400" rtl="0">
              <a:defRPr sz="1800">
                <a:solidFill>
                  <a:srgbClr val="042440"/>
                </a:solidFill>
                <a:latin typeface="Calibri"/>
                <a:ea typeface="+mn-ea"/>
                <a:cs typeface="+mn-cs"/>
              </a:defRPr>
            </a:lvl8pPr>
            <a:lvl9pPr marL="3657600" algn="l" defTabSz="914400" rtl="0">
              <a:defRPr sz="1800">
                <a:solidFill>
                  <a:srgbClr val="042440"/>
                </a:solidFill>
                <a:latin typeface="Calibri"/>
                <a:ea typeface="+mn-ea"/>
                <a:cs typeface="+mn-cs"/>
              </a:defRPr>
            </a:lvl9pPr>
          </a:lstStyle>
          <a:p>
            <a:pPr algn="ctr">
              <a:defRPr/>
            </a:pPr>
            <a:endParaRPr/>
          </a:p>
        </p:txBody>
      </p:sp>
      <p:pic>
        <p:nvPicPr>
          <p:cNvPr id="381536744" name="New picture"/>
          <p:cNvPicPr/>
          <p:nvPr/>
        </p:nvPicPr>
        <p:blipFill>
          <a:blip r:embed="rId5">
            <a:extLst>
              <a:ext uri="{96DAC541-7B7A-43D3-8B79-37D633B846F1}">
                <asvg:svgBlip xmlns:asvg="http://schemas.microsoft.com/office/drawing/2016/SVG/main" r:embed="rId6"/>
              </a:ext>
            </a:extLst>
          </a:blip>
          <a:stretch>
            <a:fillRect/>
          </a:stretch>
        </p:blipFill>
        <p:spPr bwMode="auto">
          <a:xfrm>
            <a:off x="4826000" y="1524000"/>
            <a:ext cx="381000" cy="381000"/>
          </a:xfrm>
          <a:prstGeom prst="rect">
            <a:avLst/>
          </a:prstGeom>
        </p:spPr>
      </p:pic>
      <p:sp>
        <p:nvSpPr>
          <p:cNvPr id="2085905459" name="New shape"/>
          <p:cNvSpPr/>
          <p:nvPr/>
        </p:nvSpPr>
        <p:spPr bwMode="auto">
          <a:xfrm>
            <a:off x="5334000" y="1460500"/>
            <a:ext cx="6350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ctr"/>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000" b="1" i="0" u="none">
                <a:solidFill>
                  <a:schemeClr val="lt2"/>
                </a:solidFill>
                <a:latin typeface="+mj-lt"/>
              </a:rPr>
              <a:t>Core Methodology</a:t>
            </a:r>
            <a:endParaRPr/>
          </a:p>
        </p:txBody>
      </p:sp>
      <p:sp>
        <p:nvSpPr>
          <p:cNvPr id="1105039202" name="New shape"/>
          <p:cNvSpPr/>
          <p:nvPr/>
        </p:nvSpPr>
        <p:spPr bwMode="auto">
          <a:xfrm>
            <a:off x="4826000" y="2222500"/>
            <a:ext cx="6858000" cy="1143000"/>
          </a:xfrm>
          <a:prstGeom prst="chevron">
            <a:avLst>
              <a:gd name="adj" fmla="val 16580"/>
            </a:avLst>
          </a:prstGeom>
          <a:solidFill>
            <a:schemeClr val="lt2">
              <a:alpha val="100000"/>
            </a:schemeClr>
          </a:solidFill>
          <a:ln w="12700">
            <a:solidFill>
              <a:schemeClr val="lt2">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lIns="635000" tIns="45720" rIns="762000" bIns="45720" rtlCol="0" anchor="ctr"/>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1800" b="1" i="0" u="none" dirty="0">
                <a:solidFill>
                  <a:schemeClr val="lt1"/>
                </a:solidFill>
                <a:latin typeface="+mn-lt"/>
              </a:rPr>
              <a:t>1. Data Exploration &amp; Cleaning: </a:t>
            </a:r>
            <a:r>
              <a:rPr sz="1800" b="0" i="0" u="none" dirty="0">
                <a:solidFill>
                  <a:schemeClr val="lt1"/>
                </a:solidFill>
                <a:latin typeface="+mn-lt"/>
              </a:rPr>
              <a:t>Analysis is based on </a:t>
            </a:r>
            <a:r>
              <a:rPr lang="en-US" sz="1800" b="0" i="0" u="none" dirty="0">
                <a:solidFill>
                  <a:schemeClr val="lt1"/>
                </a:solidFill>
                <a:latin typeface="+mn-lt"/>
              </a:rPr>
              <a:t>Main data file &amp; other supporting </a:t>
            </a:r>
            <a:r>
              <a:rPr sz="1800" b="0" i="0" u="none" dirty="0">
                <a:solidFill>
                  <a:schemeClr val="lt1"/>
                </a:solidFill>
                <a:latin typeface="+mn-lt"/>
              </a:rPr>
              <a:t>files, which were cleaned to treat missing values, </a:t>
            </a:r>
            <a:r>
              <a:rPr lang="en-US" sz="1800" b="0" i="0" u="none" dirty="0">
                <a:solidFill>
                  <a:schemeClr val="lt1"/>
                </a:solidFill>
                <a:latin typeface="+mn-lt"/>
              </a:rPr>
              <a:t>special characters replacement</a:t>
            </a:r>
            <a:r>
              <a:rPr sz="1800" b="0" i="0" u="none" dirty="0">
                <a:solidFill>
                  <a:schemeClr val="lt1"/>
                </a:solidFill>
                <a:latin typeface="+mn-lt"/>
              </a:rPr>
              <a:t>, and other data quality issues.</a:t>
            </a:r>
            <a:endParaRPr dirty="0"/>
          </a:p>
        </p:txBody>
      </p:sp>
      <p:sp>
        <p:nvSpPr>
          <p:cNvPr id="1917790872" name="New shape"/>
          <p:cNvSpPr/>
          <p:nvPr/>
        </p:nvSpPr>
        <p:spPr bwMode="auto">
          <a:xfrm>
            <a:off x="4826000" y="3619500"/>
            <a:ext cx="6858000" cy="1143000"/>
          </a:xfrm>
          <a:prstGeom prst="chevron">
            <a:avLst>
              <a:gd name="adj" fmla="val 16580"/>
            </a:avLst>
          </a:prstGeom>
          <a:solidFill>
            <a:schemeClr val="lt2">
              <a:alpha val="100000"/>
            </a:schemeClr>
          </a:solidFill>
          <a:ln w="12700">
            <a:solidFill>
              <a:schemeClr val="lt2">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lIns="635000" tIns="45720" rIns="762000" bIns="45720" rtlCol="0" anchor="ctr"/>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1800" b="1" i="0" u="none" dirty="0">
                <a:solidFill>
                  <a:schemeClr val="lt1"/>
                </a:solidFill>
                <a:latin typeface="+mn-lt"/>
              </a:rPr>
              <a:t>2. Data Modeling &amp; Merging: </a:t>
            </a:r>
            <a:r>
              <a:rPr sz="1800" b="0" i="0" u="none" dirty="0">
                <a:solidFill>
                  <a:schemeClr val="lt1"/>
                </a:solidFill>
                <a:latin typeface="+mn-lt"/>
              </a:rPr>
              <a:t>The cleaned datasets were merged using Power Query to establish connections between disparate data points and enable KPI extraction.</a:t>
            </a:r>
            <a:endParaRPr dirty="0"/>
          </a:p>
        </p:txBody>
      </p:sp>
      <p:sp>
        <p:nvSpPr>
          <p:cNvPr id="1566639784" name="New shape"/>
          <p:cNvSpPr/>
          <p:nvPr/>
        </p:nvSpPr>
        <p:spPr bwMode="auto">
          <a:xfrm>
            <a:off x="4826000" y="5016500"/>
            <a:ext cx="6858000" cy="1143000"/>
          </a:xfrm>
          <a:prstGeom prst="chevron">
            <a:avLst>
              <a:gd name="adj" fmla="val 16580"/>
            </a:avLst>
          </a:prstGeom>
          <a:solidFill>
            <a:schemeClr val="lt2">
              <a:alpha val="100000"/>
            </a:schemeClr>
          </a:solidFill>
          <a:ln w="12700">
            <a:solidFill>
              <a:schemeClr val="lt2">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lIns="635000" tIns="45720" rIns="762000" bIns="45720" rtlCol="0" anchor="ctr"/>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1800" b="1" i="0" u="none">
                <a:solidFill>
                  <a:schemeClr val="lt1"/>
                </a:solidFill>
                <a:latin typeface="+mn-lt"/>
              </a:rPr>
              <a:t>3. Data Visualization &amp; Analysis: </a:t>
            </a:r>
            <a:r>
              <a:rPr sz="1800" b="0" i="0" u="none">
                <a:solidFill>
                  <a:schemeClr val="lt1"/>
                </a:solidFill>
                <a:latin typeface="+mn-lt"/>
              </a:rPr>
              <a:t>Visual dashboards were created to highlight flight routes, passenger demographics, and financial performance, allowing for clear identification of trends and strategic insights.</a:t>
            </a:r>
            <a:endParaRPr/>
          </a:p>
        </p:txBody>
      </p:sp>
      <p:sp>
        <p:nvSpPr>
          <p:cNvPr id="531039078" name="Rectangle 531039077"/>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SLIDELY_ONLY_OFFICE_SLIDE_ID_188736421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6868226" name="New shape"/>
          <p:cNvSpPr/>
          <p:nvPr/>
        </p:nvSpPr>
        <p:spPr bwMode="auto">
          <a:xfrm>
            <a:off x="575310" y="3573780"/>
            <a:ext cx="11040110" cy="132461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ctr">
              <a:lnSpc>
                <a:spcPct val="100000"/>
              </a:lnSpc>
              <a:spcBef>
                <a:spcPct val="0"/>
              </a:spcBef>
              <a:spcAft>
                <a:spcPct val="0"/>
              </a:spcAft>
              <a:buNone/>
              <a:defRPr/>
            </a:pPr>
            <a:r>
              <a:rPr sz="3200" b="0" i="0" u="none" dirty="0">
                <a:solidFill>
                  <a:schemeClr val="accent1"/>
                </a:solidFill>
                <a:latin typeface="+mn-lt"/>
              </a:rPr>
              <a:t>A look at the year-over-year operational efficiency of the airline.</a:t>
            </a:r>
            <a:endParaRPr dirty="0"/>
          </a:p>
        </p:txBody>
      </p:sp>
      <p:sp>
        <p:nvSpPr>
          <p:cNvPr id="1619390006" name="Rectangle 1619390005"/>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SLIDELY_ONLY_OFFICE_SLIDE_ID_172534790</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3032241" name="Google Shape;21;p4"/>
          <p:cNvSpPr txBox="1">
            <a:spLocks noGrp="1"/>
          </p:cNvSpPr>
          <p:nvPr>
            <p:ph type="title" hasCustomPrompt="1"/>
          </p:nvPr>
        </p:nvSpPr>
        <p:spPr bwMode="auto">
          <a:xfrm>
            <a:off x="575734" y="131111"/>
            <a:ext cx="11040533" cy="1041197"/>
          </a:xfrm>
          <a:prstGeom prst="rect">
            <a:avLst/>
          </a:prstGeom>
          <a:noFill/>
          <a:ln w="0">
            <a:noFill/>
          </a:ln>
        </p:spPr>
        <p:txBody>
          <a:bodyPr spcFirstLastPara="1" wrap="square" lIns="0" tIns="0" rIns="0" bIns="0" anchor="ctr" anchorCtr="0">
            <a:noAutofit/>
          </a:bodyPr>
          <a:lstStyle>
            <a:lvl1pPr lvl="0">
              <a:spcBef>
                <a:spcPct val="0"/>
              </a:spcBef>
              <a:spcAft>
                <a:spcPct val="0"/>
              </a:spcAft>
              <a:buSzPts val="3200"/>
              <a:buNone/>
              <a:defRPr sz="3200" b="0">
                <a:solidFill>
                  <a:schemeClr val="bg1"/>
                </a:solidFill>
                <a:latin typeface="+mj-lt"/>
                <a:ea typeface="Calibri"/>
                <a:cs typeface="Calibri"/>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pPr>
              <a:defRPr/>
            </a:pPr>
            <a:r>
              <a:rPr sz="2600" b="1" i="0" u="none" dirty="0">
                <a:solidFill>
                  <a:schemeClr val="lt1"/>
                </a:solidFill>
                <a:latin typeface="+mj-lt"/>
              </a:rPr>
              <a:t>Yearly load factor shows growth peaking at </a:t>
            </a:r>
            <a:r>
              <a:rPr lang="en-US" sz="2600" b="1" i="0" u="none" dirty="0">
                <a:solidFill>
                  <a:schemeClr val="lt1"/>
                </a:solidFill>
                <a:latin typeface="+mj-lt"/>
              </a:rPr>
              <a:t>76.9</a:t>
            </a:r>
            <a:r>
              <a:rPr sz="2600" b="1" i="0" u="none" dirty="0">
                <a:solidFill>
                  <a:schemeClr val="lt1"/>
                </a:solidFill>
                <a:latin typeface="+mj-lt"/>
              </a:rPr>
              <a:t>% in 2010 before stabilizing</a:t>
            </a:r>
            <a:endParaRPr dirty="0"/>
          </a:p>
          <a:p>
            <a:pPr>
              <a:defRPr/>
            </a:pPr>
            <a:r>
              <a:rPr sz="1400" b="0" i="0" u="none" dirty="0">
                <a:solidFill>
                  <a:schemeClr val="lt1"/>
                </a:solidFill>
                <a:latin typeface="+mn-lt"/>
              </a:rPr>
              <a:t>The airline's capacity utilization saw a period of growth from a stable base, before settling at a new, higher baseline, indicating maturing operations.</a:t>
            </a:r>
            <a:endParaRPr dirty="0"/>
          </a:p>
        </p:txBody>
      </p:sp>
      <p:sp>
        <p:nvSpPr>
          <p:cNvPr id="262335937" name="New shape"/>
          <p:cNvSpPr/>
          <p:nvPr/>
        </p:nvSpPr>
        <p:spPr bwMode="auto">
          <a:xfrm>
            <a:off x="571500" y="1968500"/>
            <a:ext cx="5334000" cy="38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ctr">
              <a:lnSpc>
                <a:spcPct val="100000"/>
              </a:lnSpc>
              <a:spcBef>
                <a:spcPct val="0"/>
              </a:spcBef>
              <a:spcAft>
                <a:spcPct val="0"/>
              </a:spcAft>
              <a:buNone/>
              <a:defRPr/>
            </a:pPr>
            <a:r>
              <a:rPr sz="1800" b="1" i="0" u="none" dirty="0">
                <a:solidFill>
                  <a:schemeClr val="lt1"/>
                </a:solidFill>
                <a:latin typeface="+mn-lt"/>
              </a:rPr>
              <a:t>Yearly Lad Factor %</a:t>
            </a:r>
            <a:endParaRPr dirty="0"/>
          </a:p>
        </p:txBody>
      </p:sp>
      <p:sp>
        <p:nvSpPr>
          <p:cNvPr id="1957594329" name="New shape"/>
          <p:cNvSpPr/>
          <p:nvPr/>
        </p:nvSpPr>
        <p:spPr bwMode="auto">
          <a:xfrm>
            <a:off x="6350000" y="1438088"/>
            <a:ext cx="5080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400" b="1" i="0" u="none" dirty="0">
                <a:solidFill>
                  <a:schemeClr val="lt2"/>
                </a:solidFill>
                <a:latin typeface="+mj-lt"/>
              </a:rPr>
              <a:t>Performance Breakdown</a:t>
            </a:r>
            <a:endParaRPr dirty="0"/>
          </a:p>
        </p:txBody>
      </p:sp>
      <p:pic>
        <p:nvPicPr>
          <p:cNvPr id="1462874456" name="New picture"/>
          <p:cNvPicPr/>
          <p:nvPr/>
        </p:nvPicPr>
        <p:blipFill>
          <a:blip r:embed="rId3">
            <a:extLst>
              <a:ext uri="{96DAC541-7B7A-43D3-8B79-37D633B846F1}">
                <asvg:svgBlip xmlns:asvg="http://schemas.microsoft.com/office/drawing/2016/SVG/main" r:embed="rId4"/>
              </a:ext>
            </a:extLst>
          </a:blip>
          <a:stretch>
            <a:fillRect/>
          </a:stretch>
        </p:blipFill>
        <p:spPr bwMode="auto">
          <a:xfrm>
            <a:off x="6456082" y="1898344"/>
            <a:ext cx="355600" cy="355600"/>
          </a:xfrm>
          <a:prstGeom prst="rect">
            <a:avLst/>
          </a:prstGeom>
        </p:spPr>
      </p:pic>
      <p:sp>
        <p:nvSpPr>
          <p:cNvPr id="1567973679" name="New shape"/>
          <p:cNvSpPr/>
          <p:nvPr/>
        </p:nvSpPr>
        <p:spPr bwMode="auto">
          <a:xfrm>
            <a:off x="6846047" y="1898584"/>
            <a:ext cx="4699000" cy="1143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1800" b="1" i="0" u="none" dirty="0">
                <a:solidFill>
                  <a:schemeClr val="lt2"/>
                </a:solidFill>
                <a:latin typeface="+mn-lt"/>
              </a:rPr>
              <a:t>2008-2009: Stable Foundation</a:t>
            </a:r>
            <a:r>
              <a:rPr sz="1800" b="0" i="0" u="none" dirty="0">
                <a:solidFill>
                  <a:schemeClr val="lt2"/>
                </a:solidFill>
                <a:latin typeface="+mn-lt"/>
              </a:rPr>
              <a:t> </a:t>
            </a:r>
            <a:r>
              <a:rPr lang="en-US" sz="1800" b="0" i="0" u="none" dirty="0">
                <a:solidFill>
                  <a:schemeClr val="lt2"/>
                </a:solidFill>
                <a:latin typeface="+mn-lt"/>
              </a:rPr>
              <a:t>- Load factor remained steady at 75.3% (2008) and 75.4% (2009), reflecting a consistent baseline for operations. </a:t>
            </a:r>
            <a:endParaRPr dirty="0"/>
          </a:p>
        </p:txBody>
      </p:sp>
      <p:pic>
        <p:nvPicPr>
          <p:cNvPr id="1538548407" name="New picture"/>
          <p:cNvPicPr/>
          <p:nvPr/>
        </p:nvPicPr>
        <p:blipFill>
          <a:blip r:embed="rId5">
            <a:extLst>
              <a:ext uri="{96DAC541-7B7A-43D3-8B79-37D633B846F1}">
                <asvg:svgBlip xmlns:asvg="http://schemas.microsoft.com/office/drawing/2016/SVG/main" r:embed="rId6"/>
              </a:ext>
            </a:extLst>
          </a:blip>
          <a:stretch>
            <a:fillRect/>
          </a:stretch>
        </p:blipFill>
        <p:spPr bwMode="auto">
          <a:xfrm>
            <a:off x="6448611" y="3076699"/>
            <a:ext cx="355600" cy="355600"/>
          </a:xfrm>
          <a:prstGeom prst="rect">
            <a:avLst/>
          </a:prstGeom>
        </p:spPr>
      </p:pic>
      <p:sp>
        <p:nvSpPr>
          <p:cNvPr id="1498888886" name="New shape"/>
          <p:cNvSpPr/>
          <p:nvPr/>
        </p:nvSpPr>
        <p:spPr bwMode="auto">
          <a:xfrm>
            <a:off x="6841565" y="3057580"/>
            <a:ext cx="4699000" cy="170492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a:spcBef>
                <a:spcPct val="0"/>
              </a:spcBef>
              <a:spcAft>
                <a:spcPct val="0"/>
              </a:spcAft>
              <a:defRPr/>
            </a:pPr>
            <a:r>
              <a:rPr lang="en-US" sz="1800" b="1" i="0" u="none" dirty="0">
                <a:solidFill>
                  <a:schemeClr val="lt2"/>
                </a:solidFill>
                <a:latin typeface="+mn-lt"/>
              </a:rPr>
              <a:t>2010: Peak Performance</a:t>
            </a:r>
            <a:r>
              <a:rPr lang="en-US" sz="1800" b="0" i="0" u="none" dirty="0">
                <a:solidFill>
                  <a:schemeClr val="lt2"/>
                </a:solidFill>
                <a:latin typeface="+mn-lt"/>
              </a:rPr>
              <a:t> - A noticeable jump to 76.9%, marking a significant improvement in efficiency compared to prior years . W</a:t>
            </a:r>
            <a:r>
              <a:rPr lang="en-US" sz="1800" dirty="0">
                <a:solidFill>
                  <a:schemeClr val="tx1"/>
                </a:solidFill>
                <a:latin typeface="+mn-lt"/>
              </a:rPr>
              <a:t>hich highlights improved seat utilization and stronger capacity management.</a:t>
            </a:r>
          </a:p>
          <a:p>
            <a:pPr marL="0" marR="0" indent="0" algn="l">
              <a:lnSpc>
                <a:spcPct val="100000"/>
              </a:lnSpc>
              <a:spcBef>
                <a:spcPct val="0"/>
              </a:spcBef>
              <a:spcAft>
                <a:spcPct val="0"/>
              </a:spcAft>
              <a:buNone/>
              <a:defRPr/>
            </a:pPr>
            <a:endParaRPr lang="en-US" sz="1800" b="0" i="0" u="none" dirty="0">
              <a:solidFill>
                <a:schemeClr val="lt2"/>
              </a:solidFill>
              <a:latin typeface="+mn-lt"/>
            </a:endParaRPr>
          </a:p>
          <a:p>
            <a:pPr marL="0" marR="0" indent="0" algn="l">
              <a:lnSpc>
                <a:spcPct val="100000"/>
              </a:lnSpc>
              <a:spcBef>
                <a:spcPct val="0"/>
              </a:spcBef>
              <a:spcAft>
                <a:spcPct val="0"/>
              </a:spcAft>
              <a:buNone/>
              <a:defRPr/>
            </a:pPr>
            <a:endParaRPr dirty="0"/>
          </a:p>
        </p:txBody>
      </p:sp>
      <p:pic>
        <p:nvPicPr>
          <p:cNvPr id="2000314583" name="New picture"/>
          <p:cNvPicPr/>
          <p:nvPr/>
        </p:nvPicPr>
        <p:blipFill>
          <a:blip r:embed="rId7">
            <a:extLst>
              <a:ext uri="{96DAC541-7B7A-43D3-8B79-37D633B846F1}">
                <asvg:svgBlip xmlns:asvg="http://schemas.microsoft.com/office/drawing/2016/SVG/main" r:embed="rId8"/>
              </a:ext>
            </a:extLst>
          </a:blip>
          <a:stretch>
            <a:fillRect/>
          </a:stretch>
        </p:blipFill>
        <p:spPr bwMode="auto">
          <a:xfrm>
            <a:off x="6350000" y="4762500"/>
            <a:ext cx="355600" cy="355600"/>
          </a:xfrm>
          <a:prstGeom prst="rect">
            <a:avLst/>
          </a:prstGeom>
        </p:spPr>
      </p:pic>
      <p:sp>
        <p:nvSpPr>
          <p:cNvPr id="699425466" name="New shape"/>
          <p:cNvSpPr/>
          <p:nvPr/>
        </p:nvSpPr>
        <p:spPr bwMode="auto">
          <a:xfrm>
            <a:off x="6858000" y="4762500"/>
            <a:ext cx="4699000" cy="17907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1800" b="1" i="0" u="none" dirty="0">
                <a:solidFill>
                  <a:schemeClr val="lt2"/>
                </a:solidFill>
                <a:latin typeface="+mn-lt"/>
              </a:rPr>
              <a:t>2011-2013: New Equilibrium</a:t>
            </a:r>
            <a:r>
              <a:rPr sz="1800" b="0" i="0" u="none" dirty="0">
                <a:solidFill>
                  <a:schemeClr val="lt2"/>
                </a:solidFill>
                <a:latin typeface="+mn-lt"/>
              </a:rPr>
              <a:t> - </a:t>
            </a:r>
            <a:r>
              <a:rPr lang="en-US" sz="1800" b="0" i="0" u="none" dirty="0">
                <a:solidFill>
                  <a:schemeClr val="lt2"/>
                </a:solidFill>
                <a:latin typeface="+mn-lt"/>
              </a:rPr>
              <a:t>The airline sustained higher performance, with load factors stabilizing around the 77–78% range:</a:t>
            </a:r>
          </a:p>
          <a:p>
            <a:pPr marL="285750" marR="0" indent="-285750" algn="l">
              <a:lnSpc>
                <a:spcPct val="100000"/>
              </a:lnSpc>
              <a:spcBef>
                <a:spcPct val="0"/>
              </a:spcBef>
              <a:spcAft>
                <a:spcPct val="0"/>
              </a:spcAft>
              <a:buFont typeface="Wingdings" panose="05000000000000000000" pitchFamily="2" charset="2"/>
              <a:buChar char="§"/>
              <a:defRPr/>
            </a:pPr>
            <a:r>
              <a:rPr lang="en-US" sz="1800" b="0" i="0" u="none" dirty="0">
                <a:solidFill>
                  <a:schemeClr val="lt2"/>
                </a:solidFill>
                <a:latin typeface="+mn-lt"/>
              </a:rPr>
              <a:t>2011: 77.7%</a:t>
            </a:r>
          </a:p>
          <a:p>
            <a:pPr marL="285750" marR="0" indent="-285750" algn="l">
              <a:lnSpc>
                <a:spcPct val="100000"/>
              </a:lnSpc>
              <a:spcBef>
                <a:spcPct val="0"/>
              </a:spcBef>
              <a:spcAft>
                <a:spcPct val="0"/>
              </a:spcAft>
              <a:buFont typeface="Wingdings" panose="05000000000000000000" pitchFamily="2" charset="2"/>
              <a:buChar char="§"/>
              <a:defRPr/>
            </a:pPr>
            <a:r>
              <a:rPr lang="en-US" sz="1800" b="0" i="0" u="none" dirty="0">
                <a:solidFill>
                  <a:schemeClr val="lt2"/>
                </a:solidFill>
                <a:latin typeface="+mn-lt"/>
              </a:rPr>
              <a:t>2012: 77.2%</a:t>
            </a:r>
          </a:p>
          <a:p>
            <a:pPr marL="285750" marR="0" indent="-285750" algn="l">
              <a:lnSpc>
                <a:spcPct val="100000"/>
              </a:lnSpc>
              <a:spcBef>
                <a:spcPct val="0"/>
              </a:spcBef>
              <a:spcAft>
                <a:spcPct val="0"/>
              </a:spcAft>
              <a:buFont typeface="Wingdings" panose="05000000000000000000" pitchFamily="2" charset="2"/>
              <a:buChar char="§"/>
              <a:defRPr/>
            </a:pPr>
            <a:r>
              <a:rPr lang="en-US" sz="1800" b="0" i="0" u="none" dirty="0">
                <a:solidFill>
                  <a:schemeClr val="lt2"/>
                </a:solidFill>
                <a:latin typeface="+mn-lt"/>
              </a:rPr>
              <a:t>2013: 78.1%</a:t>
            </a:r>
          </a:p>
          <a:p>
            <a:pPr marL="0" marR="0" indent="0" algn="l">
              <a:lnSpc>
                <a:spcPct val="100000"/>
              </a:lnSpc>
              <a:spcBef>
                <a:spcPct val="0"/>
              </a:spcBef>
              <a:spcAft>
                <a:spcPct val="0"/>
              </a:spcAft>
              <a:buNone/>
              <a:defRPr/>
            </a:pPr>
            <a:endParaRPr dirty="0"/>
          </a:p>
        </p:txBody>
      </p:sp>
      <p:sp>
        <p:nvSpPr>
          <p:cNvPr id="179438700" name="Rectangle 179438699"/>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SLIDELY_ONLY_OFFICE_SLIDE_ID_136393332</a:t>
            </a:r>
            <a:endParaRPr/>
          </a:p>
        </p:txBody>
      </p:sp>
      <p:pic>
        <p:nvPicPr>
          <p:cNvPr id="3" name="Picture 2">
            <a:extLst>
              <a:ext uri="{FF2B5EF4-FFF2-40B4-BE49-F238E27FC236}">
                <a16:creationId xmlns:a16="http://schemas.microsoft.com/office/drawing/2014/main" id="{E2F30AD3-A3B7-43F0-8F3E-E18603B58763}"/>
              </a:ext>
            </a:extLst>
          </p:cNvPr>
          <p:cNvPicPr>
            <a:picLocks noChangeAspect="1"/>
          </p:cNvPicPr>
          <p:nvPr/>
        </p:nvPicPr>
        <p:blipFill>
          <a:blip r:embed="rId9"/>
          <a:stretch>
            <a:fillRect/>
          </a:stretch>
        </p:blipFill>
        <p:spPr>
          <a:xfrm>
            <a:off x="454392" y="1968501"/>
            <a:ext cx="5420481" cy="42799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3032241" name="Google Shape;21;p4"/>
          <p:cNvSpPr txBox="1">
            <a:spLocks noGrp="1"/>
          </p:cNvSpPr>
          <p:nvPr>
            <p:ph type="title" hasCustomPrompt="1"/>
          </p:nvPr>
        </p:nvSpPr>
        <p:spPr bwMode="auto">
          <a:xfrm>
            <a:off x="575734" y="131111"/>
            <a:ext cx="11040533" cy="1041197"/>
          </a:xfrm>
          <a:prstGeom prst="rect">
            <a:avLst/>
          </a:prstGeom>
          <a:noFill/>
          <a:ln w="0">
            <a:noFill/>
          </a:ln>
        </p:spPr>
        <p:txBody>
          <a:bodyPr spcFirstLastPara="1" wrap="square" lIns="0" tIns="0" rIns="0" bIns="0" anchor="ctr" anchorCtr="0">
            <a:noAutofit/>
          </a:bodyPr>
          <a:lstStyle>
            <a:lvl1pPr lvl="0">
              <a:spcBef>
                <a:spcPct val="0"/>
              </a:spcBef>
              <a:spcAft>
                <a:spcPct val="0"/>
              </a:spcAft>
              <a:buSzPts val="3200"/>
              <a:buNone/>
              <a:defRPr sz="3200" b="0">
                <a:solidFill>
                  <a:schemeClr val="bg1"/>
                </a:solidFill>
                <a:latin typeface="+mj-lt"/>
                <a:ea typeface="Calibri"/>
                <a:cs typeface="Calibri"/>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pPr>
              <a:defRPr/>
            </a:pPr>
            <a:r>
              <a:rPr lang="en-US" sz="2600" b="1" i="0" u="none" dirty="0">
                <a:solidFill>
                  <a:schemeClr val="lt1"/>
                </a:solidFill>
                <a:latin typeface="+mj-lt"/>
              </a:rPr>
              <a:t>Quarterly</a:t>
            </a:r>
            <a:r>
              <a:rPr sz="2600" b="1" i="0" u="none" dirty="0">
                <a:solidFill>
                  <a:schemeClr val="lt1"/>
                </a:solidFill>
                <a:latin typeface="+mj-lt"/>
              </a:rPr>
              <a:t> load factor shows growth peaking at</a:t>
            </a:r>
            <a:r>
              <a:rPr lang="en-US" sz="2600" b="1" i="0" u="none" dirty="0">
                <a:solidFill>
                  <a:schemeClr val="lt1"/>
                </a:solidFill>
                <a:latin typeface="+mj-lt"/>
              </a:rPr>
              <a:t> 79</a:t>
            </a:r>
            <a:r>
              <a:rPr sz="2600" b="1" i="0" u="none" dirty="0">
                <a:solidFill>
                  <a:schemeClr val="lt1"/>
                </a:solidFill>
                <a:latin typeface="+mj-lt"/>
              </a:rPr>
              <a:t>% in </a:t>
            </a:r>
            <a:r>
              <a:rPr lang="en-US" sz="2600" b="1" dirty="0">
                <a:solidFill>
                  <a:schemeClr val="lt1"/>
                </a:solidFill>
              </a:rPr>
              <a:t>Q3</a:t>
            </a:r>
            <a:r>
              <a:rPr sz="2600" b="1" i="0" u="none" dirty="0">
                <a:solidFill>
                  <a:schemeClr val="lt1"/>
                </a:solidFill>
                <a:latin typeface="+mj-lt"/>
              </a:rPr>
              <a:t> before stabilizing</a:t>
            </a:r>
            <a:endParaRPr dirty="0"/>
          </a:p>
          <a:p>
            <a:pPr>
              <a:defRPr/>
            </a:pPr>
            <a:r>
              <a:rPr lang="en-US" sz="1400" b="0" i="0" u="none" dirty="0">
                <a:solidFill>
                  <a:schemeClr val="lt1"/>
                </a:solidFill>
                <a:latin typeface="+mn-lt"/>
              </a:rPr>
              <a:t>The airline’s quarterly load factor shows a growth trajectory peaking in Q3, followed by stabilization at a higher baseline (77–79%). This reflects maturing operations with opportunities to fine-tune demand stimulation in weaker quarters and optimize profitability in stronger ones.</a:t>
            </a:r>
          </a:p>
        </p:txBody>
      </p:sp>
      <p:sp>
        <p:nvSpPr>
          <p:cNvPr id="262335937" name="New shape"/>
          <p:cNvSpPr/>
          <p:nvPr/>
        </p:nvSpPr>
        <p:spPr bwMode="auto">
          <a:xfrm>
            <a:off x="571500" y="1968500"/>
            <a:ext cx="5334000" cy="38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ctr">
              <a:lnSpc>
                <a:spcPct val="100000"/>
              </a:lnSpc>
              <a:spcBef>
                <a:spcPct val="0"/>
              </a:spcBef>
              <a:spcAft>
                <a:spcPct val="0"/>
              </a:spcAft>
              <a:buNone/>
              <a:defRPr/>
            </a:pPr>
            <a:r>
              <a:rPr sz="1800" b="1" i="0" u="none" dirty="0">
                <a:solidFill>
                  <a:schemeClr val="lt1"/>
                </a:solidFill>
                <a:latin typeface="+mn-lt"/>
              </a:rPr>
              <a:t>Yearly Lad Factor %</a:t>
            </a:r>
            <a:endParaRPr dirty="0"/>
          </a:p>
        </p:txBody>
      </p:sp>
      <p:sp>
        <p:nvSpPr>
          <p:cNvPr id="1957594329" name="New shape"/>
          <p:cNvSpPr/>
          <p:nvPr/>
        </p:nvSpPr>
        <p:spPr bwMode="auto">
          <a:xfrm>
            <a:off x="6350000" y="1438088"/>
            <a:ext cx="5080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400" b="1" i="0" u="none" dirty="0">
                <a:solidFill>
                  <a:schemeClr val="lt2"/>
                </a:solidFill>
                <a:latin typeface="+mj-lt"/>
              </a:rPr>
              <a:t>Performance Breakdown</a:t>
            </a:r>
            <a:endParaRPr dirty="0"/>
          </a:p>
        </p:txBody>
      </p:sp>
      <p:sp>
        <p:nvSpPr>
          <p:cNvPr id="1567973679" name="New shape"/>
          <p:cNvSpPr/>
          <p:nvPr/>
        </p:nvSpPr>
        <p:spPr bwMode="auto">
          <a:xfrm>
            <a:off x="6846047" y="1898584"/>
            <a:ext cx="4699000" cy="1143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endParaRPr dirty="0"/>
          </a:p>
        </p:txBody>
      </p:sp>
      <p:pic>
        <p:nvPicPr>
          <p:cNvPr id="1538548407" name="New picture"/>
          <p:cNvPicPr/>
          <p:nvPr/>
        </p:nvPicPr>
        <p:blipFill>
          <a:blip r:embed="rId3">
            <a:extLst>
              <a:ext uri="{96DAC541-7B7A-43D3-8B79-37D633B846F1}">
                <asvg:svgBlip xmlns:asvg="http://schemas.microsoft.com/office/drawing/2016/SVG/main" r:embed="rId4"/>
              </a:ext>
            </a:extLst>
          </a:blip>
          <a:stretch>
            <a:fillRect/>
          </a:stretch>
        </p:blipFill>
        <p:spPr bwMode="auto">
          <a:xfrm>
            <a:off x="6434976" y="3628638"/>
            <a:ext cx="355600" cy="355600"/>
          </a:xfrm>
          <a:prstGeom prst="rect">
            <a:avLst/>
          </a:prstGeom>
        </p:spPr>
      </p:pic>
      <p:pic>
        <p:nvPicPr>
          <p:cNvPr id="2000314583" name="New picture"/>
          <p:cNvPicPr/>
          <p:nvPr/>
        </p:nvPicPr>
        <p:blipFill>
          <a:blip r:embed="rId5">
            <a:extLst>
              <a:ext uri="{96DAC541-7B7A-43D3-8B79-37D633B846F1}">
                <asvg:svgBlip xmlns:asvg="http://schemas.microsoft.com/office/drawing/2016/SVG/main" r:embed="rId6"/>
              </a:ext>
            </a:extLst>
          </a:blip>
          <a:stretch>
            <a:fillRect/>
          </a:stretch>
        </p:blipFill>
        <p:spPr bwMode="auto">
          <a:xfrm>
            <a:off x="6452719" y="4515687"/>
            <a:ext cx="355600" cy="355600"/>
          </a:xfrm>
          <a:prstGeom prst="rect">
            <a:avLst/>
          </a:prstGeom>
        </p:spPr>
      </p:pic>
      <p:sp>
        <p:nvSpPr>
          <p:cNvPr id="179438700" name="Rectangle 179438699"/>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SLIDELY_ONLY_OFFICE_SLIDE_ID_136393332</a:t>
            </a:r>
            <a:endParaRPr/>
          </a:p>
        </p:txBody>
      </p:sp>
      <p:pic>
        <p:nvPicPr>
          <p:cNvPr id="4" name="Picture 3">
            <a:extLst>
              <a:ext uri="{FF2B5EF4-FFF2-40B4-BE49-F238E27FC236}">
                <a16:creationId xmlns:a16="http://schemas.microsoft.com/office/drawing/2014/main" id="{36B495AD-0E3C-4E17-9380-5D88FD13D051}"/>
              </a:ext>
            </a:extLst>
          </p:cNvPr>
          <p:cNvPicPr>
            <a:picLocks noChangeAspect="1"/>
          </p:cNvPicPr>
          <p:nvPr/>
        </p:nvPicPr>
        <p:blipFill>
          <a:blip r:embed="rId7"/>
          <a:stretch>
            <a:fillRect/>
          </a:stretch>
        </p:blipFill>
        <p:spPr>
          <a:xfrm>
            <a:off x="457200" y="2098556"/>
            <a:ext cx="5584265" cy="3692644"/>
          </a:xfrm>
          <a:prstGeom prst="rect">
            <a:avLst/>
          </a:prstGeom>
        </p:spPr>
      </p:pic>
      <p:sp>
        <p:nvSpPr>
          <p:cNvPr id="16" name="TextBox 15">
            <a:extLst>
              <a:ext uri="{FF2B5EF4-FFF2-40B4-BE49-F238E27FC236}">
                <a16:creationId xmlns:a16="http://schemas.microsoft.com/office/drawing/2014/main" id="{B0A39607-C356-4B60-AC1D-A0EA3CFA9B5C}"/>
              </a:ext>
            </a:extLst>
          </p:cNvPr>
          <p:cNvSpPr txBox="1"/>
          <p:nvPr/>
        </p:nvSpPr>
        <p:spPr>
          <a:xfrm>
            <a:off x="6420594" y="1962019"/>
            <a:ext cx="409389" cy="369332"/>
          </a:xfrm>
          <a:prstGeom prst="rect">
            <a:avLst/>
          </a:prstGeom>
          <a:noFill/>
        </p:spPr>
        <p:txBody>
          <a:bodyPr wrap="square">
            <a:spAutoFit/>
          </a:bodyPr>
          <a:lstStyle/>
          <a:p>
            <a:r>
              <a:rPr lang="en-IN" dirty="0"/>
              <a:t>🌱</a:t>
            </a:r>
          </a:p>
        </p:txBody>
      </p:sp>
      <p:sp>
        <p:nvSpPr>
          <p:cNvPr id="6" name="Rectangle 1">
            <a:extLst>
              <a:ext uri="{FF2B5EF4-FFF2-40B4-BE49-F238E27FC236}">
                <a16:creationId xmlns:a16="http://schemas.microsoft.com/office/drawing/2014/main" id="{0FEC8059-6A89-4B31-9495-C74594623535}"/>
              </a:ext>
            </a:extLst>
          </p:cNvPr>
          <p:cNvSpPr>
            <a:spLocks noChangeArrowheads="1"/>
          </p:cNvSpPr>
          <p:nvPr/>
        </p:nvSpPr>
        <p:spPr bwMode="auto">
          <a:xfrm>
            <a:off x="6794125" y="1946088"/>
            <a:ext cx="516815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Q1: Lowest load factor at 73%, representing the seasonal trough.</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Q2: Strong </a:t>
            </a:r>
            <a:r>
              <a:rPr kumimoji="0" lang="en-US" altLang="en-US" sz="1800" b="1" i="0" u="none" strike="noStrike" cap="none" normalizeH="0" baseline="0" dirty="0" err="1">
                <a:ln>
                  <a:noFill/>
                </a:ln>
                <a:solidFill>
                  <a:schemeClr val="tx1"/>
                </a:solidFill>
                <a:effectLst/>
                <a:latin typeface="Arial" panose="020B0604020202020204" pitchFamily="34" charset="0"/>
              </a:rPr>
              <a:t>reboundto</a:t>
            </a:r>
            <a:r>
              <a:rPr kumimoji="0" lang="en-US" altLang="en-US" sz="1800" b="1" i="0" u="none" strike="noStrike" cap="none" normalizeH="0" baseline="0" dirty="0">
                <a:ln>
                  <a:noFill/>
                </a:ln>
                <a:solidFill>
                  <a:schemeClr val="tx1"/>
                </a:solidFill>
                <a:effectLst/>
                <a:latin typeface="Arial" panose="020B0604020202020204" pitchFamily="34" charset="0"/>
              </a:rPr>
              <a:t> 78%, showing recovery and rising demand.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Q3: Peak performance at 79%, the highest utilization of the year.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Q4: Slight dip to 77%, but still above the Q1 baseline, indicating stability. </a:t>
            </a:r>
          </a:p>
        </p:txBody>
      </p:sp>
      <p:sp>
        <p:nvSpPr>
          <p:cNvPr id="19" name="TextBox 18">
            <a:extLst>
              <a:ext uri="{FF2B5EF4-FFF2-40B4-BE49-F238E27FC236}">
                <a16:creationId xmlns:a16="http://schemas.microsoft.com/office/drawing/2014/main" id="{3B075542-46E0-4F06-9759-5F7B494A1773}"/>
              </a:ext>
            </a:extLst>
          </p:cNvPr>
          <p:cNvSpPr txBox="1"/>
          <p:nvPr/>
        </p:nvSpPr>
        <p:spPr>
          <a:xfrm>
            <a:off x="6364005" y="2783334"/>
            <a:ext cx="497541" cy="369332"/>
          </a:xfrm>
          <a:prstGeom prst="rect">
            <a:avLst/>
          </a:prstGeom>
          <a:noFill/>
        </p:spPr>
        <p:txBody>
          <a:bodyPr wrap="square">
            <a:spAutoFit/>
          </a:bodyPr>
          <a:lstStyle/>
          <a:p>
            <a:r>
              <a:rPr kumimoji="0" lang="en-US" altLang="en-US" sz="1800" b="1" i="0" u="none" strike="noStrike" cap="none" normalizeH="0" baseline="0" dirty="0">
                <a:ln>
                  <a:noFill/>
                </a:ln>
                <a:solidFill>
                  <a:schemeClr val="tx1"/>
                </a:solidFill>
                <a:effectLst/>
                <a:latin typeface="Arial" panose="020B0604020202020204" pitchFamily="34" charset="0"/>
              </a:rPr>
              <a:t>📈</a:t>
            </a:r>
            <a:endParaRPr lang="en-IN" dirty="0"/>
          </a:p>
        </p:txBody>
      </p:sp>
    </p:spTree>
    <p:extLst>
      <p:ext uri="{BB962C8B-B14F-4D97-AF65-F5344CB8AC3E}">
        <p14:creationId xmlns:p14="http://schemas.microsoft.com/office/powerpoint/2010/main" val="2993079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3032241" name="Google Shape;21;p4"/>
          <p:cNvSpPr txBox="1">
            <a:spLocks noGrp="1"/>
          </p:cNvSpPr>
          <p:nvPr>
            <p:ph type="title" hasCustomPrompt="1"/>
          </p:nvPr>
        </p:nvSpPr>
        <p:spPr bwMode="auto">
          <a:xfrm>
            <a:off x="152400" y="35757"/>
            <a:ext cx="11887200" cy="1143000"/>
          </a:xfrm>
          <a:prstGeom prst="rect">
            <a:avLst/>
          </a:prstGeom>
          <a:noFill/>
          <a:ln w="0">
            <a:noFill/>
          </a:ln>
        </p:spPr>
        <p:txBody>
          <a:bodyPr spcFirstLastPara="1" wrap="square" lIns="0" tIns="0" rIns="0" bIns="0" anchor="ctr" anchorCtr="0">
            <a:noAutofit/>
          </a:bodyPr>
          <a:lstStyle>
            <a:lvl1pPr lvl="0">
              <a:spcBef>
                <a:spcPct val="0"/>
              </a:spcBef>
              <a:spcAft>
                <a:spcPct val="0"/>
              </a:spcAft>
              <a:buSzPts val="3200"/>
              <a:buNone/>
              <a:defRPr sz="3200" b="0">
                <a:solidFill>
                  <a:schemeClr val="bg1"/>
                </a:solidFill>
                <a:latin typeface="+mj-lt"/>
                <a:ea typeface="Calibri"/>
                <a:cs typeface="Calibri"/>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r>
              <a:rPr lang="en-US" sz="2600" b="1" dirty="0"/>
              <a:t>The monthly load factor shows seasonal peaks in summer (57–58%) and troughs at the start and end of the year (50–52%).                                                                                          </a:t>
            </a:r>
            <a:r>
              <a:rPr lang="en-US" sz="1600" dirty="0"/>
              <a:t>This pattern reflects </a:t>
            </a:r>
            <a:r>
              <a:rPr lang="en-US" sz="1600" b="1" dirty="0"/>
              <a:t>seasonality-driven demand cycles</a:t>
            </a:r>
            <a:r>
              <a:rPr lang="en-US" sz="1600" dirty="0"/>
              <a:t>, offering clear opportunities: stimulate demand in weaker months and maximize profitability during peak periods.</a:t>
            </a:r>
          </a:p>
        </p:txBody>
      </p:sp>
      <p:sp>
        <p:nvSpPr>
          <p:cNvPr id="262335937" name="New shape"/>
          <p:cNvSpPr/>
          <p:nvPr/>
        </p:nvSpPr>
        <p:spPr bwMode="auto">
          <a:xfrm>
            <a:off x="571500" y="1968500"/>
            <a:ext cx="5334000" cy="38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ctr">
              <a:lnSpc>
                <a:spcPct val="100000"/>
              </a:lnSpc>
              <a:spcBef>
                <a:spcPct val="0"/>
              </a:spcBef>
              <a:spcAft>
                <a:spcPct val="0"/>
              </a:spcAft>
              <a:buNone/>
              <a:defRPr/>
            </a:pPr>
            <a:r>
              <a:rPr sz="1800" b="1" i="0" u="none" dirty="0">
                <a:solidFill>
                  <a:schemeClr val="lt1"/>
                </a:solidFill>
                <a:latin typeface="+mn-lt"/>
              </a:rPr>
              <a:t>Yearly Lad Factor %</a:t>
            </a:r>
            <a:endParaRPr dirty="0"/>
          </a:p>
        </p:txBody>
      </p:sp>
      <p:sp>
        <p:nvSpPr>
          <p:cNvPr id="1957594329" name="New shape"/>
          <p:cNvSpPr/>
          <p:nvPr/>
        </p:nvSpPr>
        <p:spPr bwMode="auto">
          <a:xfrm>
            <a:off x="6350558" y="1328336"/>
            <a:ext cx="5080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400" b="1" i="0" u="none" dirty="0">
                <a:solidFill>
                  <a:schemeClr val="lt2"/>
                </a:solidFill>
                <a:latin typeface="+mj-lt"/>
              </a:rPr>
              <a:t>Performance Breakdown</a:t>
            </a:r>
            <a:endParaRPr dirty="0"/>
          </a:p>
        </p:txBody>
      </p:sp>
      <p:sp>
        <p:nvSpPr>
          <p:cNvPr id="1567973679" name="New shape"/>
          <p:cNvSpPr/>
          <p:nvPr/>
        </p:nvSpPr>
        <p:spPr bwMode="auto">
          <a:xfrm>
            <a:off x="6846047" y="1898584"/>
            <a:ext cx="4699000" cy="1143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endParaRPr dirty="0"/>
          </a:p>
        </p:txBody>
      </p:sp>
      <p:sp>
        <p:nvSpPr>
          <p:cNvPr id="179438700" name="Rectangle 179438699"/>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SLIDELY_ONLY_OFFICE_SLIDE_ID_136393332</a:t>
            </a:r>
            <a:endParaRPr/>
          </a:p>
        </p:txBody>
      </p:sp>
      <p:sp>
        <p:nvSpPr>
          <p:cNvPr id="6" name="Rectangle 1">
            <a:extLst>
              <a:ext uri="{FF2B5EF4-FFF2-40B4-BE49-F238E27FC236}">
                <a16:creationId xmlns:a16="http://schemas.microsoft.com/office/drawing/2014/main" id="{0FEC8059-6A89-4B31-9495-C74594623535}"/>
              </a:ext>
            </a:extLst>
          </p:cNvPr>
          <p:cNvSpPr>
            <a:spLocks noChangeArrowheads="1"/>
          </p:cNvSpPr>
          <p:nvPr/>
        </p:nvSpPr>
        <p:spPr bwMode="auto">
          <a:xfrm>
            <a:off x="6798233" y="1767384"/>
            <a:ext cx="516815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Summer Months (June–July–August):</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Highest efficiency recorded, with July peaking at 57.81%, followed by June (57.39%) and August (56.52%). This reflects strong seasonal demand.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Spring &amp; Autumn (April, May, October):</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Mid-range performance between 54.7%–55.5%, showing moderate utilization.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Year-End &amp; Early Year (January–February–December):</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Weakest efficiency observed, with January at 50.86%, February at 51.45%, and December at 52.31%, highlighting seasonal troughs.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Other Months (March, September, November):</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Slightly below mid-range, between 53.7%–54.7%, indicating softer demand compared to summer peaks.</a:t>
            </a:r>
          </a:p>
        </p:txBody>
      </p:sp>
      <p:pic>
        <p:nvPicPr>
          <p:cNvPr id="7" name="Picture 6">
            <a:extLst>
              <a:ext uri="{FF2B5EF4-FFF2-40B4-BE49-F238E27FC236}">
                <a16:creationId xmlns:a16="http://schemas.microsoft.com/office/drawing/2014/main" id="{56C2E6A3-1FFF-4C00-B496-32CDB0A567F8}"/>
              </a:ext>
            </a:extLst>
          </p:cNvPr>
          <p:cNvPicPr>
            <a:picLocks noChangeAspect="1"/>
          </p:cNvPicPr>
          <p:nvPr/>
        </p:nvPicPr>
        <p:blipFill>
          <a:blip r:embed="rId3"/>
          <a:stretch>
            <a:fillRect/>
          </a:stretch>
        </p:blipFill>
        <p:spPr>
          <a:xfrm>
            <a:off x="484973" y="2142985"/>
            <a:ext cx="5473007" cy="4081650"/>
          </a:xfrm>
          <a:prstGeom prst="rect">
            <a:avLst/>
          </a:prstGeom>
        </p:spPr>
      </p:pic>
      <p:sp>
        <p:nvSpPr>
          <p:cNvPr id="9" name="Rectangle 2">
            <a:extLst>
              <a:ext uri="{FF2B5EF4-FFF2-40B4-BE49-F238E27FC236}">
                <a16:creationId xmlns:a16="http://schemas.microsoft.com/office/drawing/2014/main" id="{28FC3AAF-1E99-42E2-8037-AECBE82FF113}"/>
              </a:ext>
            </a:extLst>
          </p:cNvPr>
          <p:cNvSpPr>
            <a:spLocks noChangeArrowheads="1"/>
          </p:cNvSpPr>
          <p:nvPr/>
        </p:nvSpPr>
        <p:spPr bwMode="auto">
          <a:xfrm rot="10800000" flipV="1">
            <a:off x="6371663" y="1767384"/>
            <a:ext cx="5177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TextBox 19">
            <a:extLst>
              <a:ext uri="{FF2B5EF4-FFF2-40B4-BE49-F238E27FC236}">
                <a16:creationId xmlns:a16="http://schemas.microsoft.com/office/drawing/2014/main" id="{39247A68-B6AB-4C44-957B-467000ED232C}"/>
              </a:ext>
            </a:extLst>
          </p:cNvPr>
          <p:cNvSpPr txBox="1"/>
          <p:nvPr/>
        </p:nvSpPr>
        <p:spPr>
          <a:xfrm>
            <a:off x="6365315" y="2773625"/>
            <a:ext cx="425261" cy="369332"/>
          </a:xfrm>
          <a:prstGeom prst="rect">
            <a:avLst/>
          </a:prstGeom>
          <a:noFill/>
        </p:spPr>
        <p:txBody>
          <a:bodyPr wrap="square">
            <a:spAutoFit/>
          </a:bodyPr>
          <a:lstStyle/>
          <a:p>
            <a:r>
              <a:rPr lang="en-IN" dirty="0"/>
              <a:t>🍂</a:t>
            </a:r>
          </a:p>
        </p:txBody>
      </p:sp>
      <p:sp>
        <p:nvSpPr>
          <p:cNvPr id="22" name="TextBox 21">
            <a:extLst>
              <a:ext uri="{FF2B5EF4-FFF2-40B4-BE49-F238E27FC236}">
                <a16:creationId xmlns:a16="http://schemas.microsoft.com/office/drawing/2014/main" id="{2FB1E0E9-2307-4CA5-86F1-684001E834D7}"/>
              </a:ext>
            </a:extLst>
          </p:cNvPr>
          <p:cNvSpPr txBox="1"/>
          <p:nvPr/>
        </p:nvSpPr>
        <p:spPr>
          <a:xfrm>
            <a:off x="6365315" y="3699781"/>
            <a:ext cx="480732" cy="369332"/>
          </a:xfrm>
          <a:prstGeom prst="rect">
            <a:avLst/>
          </a:prstGeom>
          <a:noFill/>
        </p:spPr>
        <p:txBody>
          <a:bodyPr wrap="square">
            <a:spAutoFit/>
          </a:bodyPr>
          <a:lstStyle/>
          <a:p>
            <a:r>
              <a:rPr lang="en-IN" dirty="0"/>
              <a:t>❄️</a:t>
            </a:r>
          </a:p>
        </p:txBody>
      </p:sp>
      <p:sp>
        <p:nvSpPr>
          <p:cNvPr id="24" name="TextBox 23">
            <a:extLst>
              <a:ext uri="{FF2B5EF4-FFF2-40B4-BE49-F238E27FC236}">
                <a16:creationId xmlns:a16="http://schemas.microsoft.com/office/drawing/2014/main" id="{7FADEFEA-5A3B-47D6-BB3F-2266174D470A}"/>
              </a:ext>
            </a:extLst>
          </p:cNvPr>
          <p:cNvSpPr txBox="1"/>
          <p:nvPr/>
        </p:nvSpPr>
        <p:spPr>
          <a:xfrm>
            <a:off x="6337579" y="4699063"/>
            <a:ext cx="480732" cy="369332"/>
          </a:xfrm>
          <a:prstGeom prst="rect">
            <a:avLst/>
          </a:prstGeom>
          <a:noFill/>
        </p:spPr>
        <p:txBody>
          <a:bodyPr wrap="square">
            <a:spAutoFit/>
          </a:bodyPr>
          <a:lstStyle/>
          <a:p>
            <a:r>
              <a:rPr lang="en-IN" dirty="0"/>
              <a:t>📉</a:t>
            </a:r>
          </a:p>
        </p:txBody>
      </p:sp>
    </p:spTree>
    <p:extLst>
      <p:ext uri="{BB962C8B-B14F-4D97-AF65-F5344CB8AC3E}">
        <p14:creationId xmlns:p14="http://schemas.microsoft.com/office/powerpoint/2010/main" val="3000494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3032241" name="Google Shape;21;p4"/>
          <p:cNvSpPr txBox="1">
            <a:spLocks noGrp="1"/>
          </p:cNvSpPr>
          <p:nvPr>
            <p:ph type="title" hasCustomPrompt="1"/>
          </p:nvPr>
        </p:nvSpPr>
        <p:spPr bwMode="auto">
          <a:xfrm>
            <a:off x="152400" y="35757"/>
            <a:ext cx="11887200" cy="1143000"/>
          </a:xfrm>
          <a:prstGeom prst="rect">
            <a:avLst/>
          </a:prstGeom>
          <a:noFill/>
          <a:ln w="0">
            <a:noFill/>
          </a:ln>
        </p:spPr>
        <p:txBody>
          <a:bodyPr spcFirstLastPara="1" wrap="square" lIns="0" tIns="0" rIns="0" bIns="0" anchor="ctr" anchorCtr="0">
            <a:noAutofit/>
          </a:bodyPr>
          <a:lstStyle>
            <a:lvl1pPr lvl="0">
              <a:spcBef>
                <a:spcPct val="0"/>
              </a:spcBef>
              <a:spcAft>
                <a:spcPct val="0"/>
              </a:spcAft>
              <a:buSzPts val="3200"/>
              <a:buNone/>
              <a:defRPr sz="3200" b="0">
                <a:solidFill>
                  <a:schemeClr val="bg1"/>
                </a:solidFill>
                <a:latin typeface="+mj-lt"/>
                <a:ea typeface="Calibri"/>
                <a:cs typeface="Calibri"/>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r>
              <a:rPr lang="en-US" sz="2600" b="1" dirty="0"/>
              <a:t>The Weekday / Weekend  Load factor </a:t>
            </a:r>
            <a:endParaRPr lang="en-US" sz="1600" dirty="0"/>
          </a:p>
        </p:txBody>
      </p:sp>
      <p:sp>
        <p:nvSpPr>
          <p:cNvPr id="1957594329" name="New shape"/>
          <p:cNvSpPr/>
          <p:nvPr/>
        </p:nvSpPr>
        <p:spPr bwMode="auto">
          <a:xfrm>
            <a:off x="6350558" y="1328336"/>
            <a:ext cx="5080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400" b="1" i="0" u="none" dirty="0">
                <a:solidFill>
                  <a:schemeClr val="lt2"/>
                </a:solidFill>
                <a:latin typeface="+mj-lt"/>
              </a:rPr>
              <a:t>Performance Breakdown</a:t>
            </a:r>
            <a:endParaRPr dirty="0"/>
          </a:p>
        </p:txBody>
      </p:sp>
      <p:sp>
        <p:nvSpPr>
          <p:cNvPr id="1567973679" name="New shape"/>
          <p:cNvSpPr/>
          <p:nvPr/>
        </p:nvSpPr>
        <p:spPr bwMode="auto">
          <a:xfrm>
            <a:off x="6846047" y="1898584"/>
            <a:ext cx="4699000" cy="1143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endParaRPr dirty="0"/>
          </a:p>
        </p:txBody>
      </p:sp>
      <p:sp>
        <p:nvSpPr>
          <p:cNvPr id="179438700" name="Rectangle 179438699"/>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SLIDELY_ONLY_OFFICE_SLIDE_ID_136393332</a:t>
            </a:r>
            <a:endParaRPr/>
          </a:p>
        </p:txBody>
      </p:sp>
      <p:sp>
        <p:nvSpPr>
          <p:cNvPr id="6" name="Rectangle 1">
            <a:extLst>
              <a:ext uri="{FF2B5EF4-FFF2-40B4-BE49-F238E27FC236}">
                <a16:creationId xmlns:a16="http://schemas.microsoft.com/office/drawing/2014/main" id="{0FEC8059-6A89-4B31-9495-C74594623535}"/>
              </a:ext>
            </a:extLst>
          </p:cNvPr>
          <p:cNvSpPr>
            <a:spLocks noChangeArrowheads="1"/>
          </p:cNvSpPr>
          <p:nvPr/>
        </p:nvSpPr>
        <p:spPr bwMode="auto">
          <a:xfrm>
            <a:off x="6798233" y="2198272"/>
            <a:ext cx="5168154"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Weekdays: 76.73% load factor.</a:t>
            </a:r>
          </a:p>
          <a:p>
            <a:pPr marL="285750" marR="0" lvl="0" indent="-285750" algn="l" defTabSz="914400" rtl="0" eaLnBrk="0" fontAlgn="base" latinLnBrk="0" hangingPunct="0">
              <a:lnSpc>
                <a:spcPct val="100000"/>
              </a:lnSpc>
              <a:spcBef>
                <a:spcPct val="0"/>
              </a:spcBef>
              <a:spcAft>
                <a:spcPct val="0"/>
              </a:spcAft>
              <a:buClrTx/>
              <a:buSzTx/>
              <a:buFontTx/>
              <a:buChar char="-"/>
              <a:tabLst/>
            </a:pPr>
            <a:endParaRPr lang="en-US" altLang="en-US" sz="1400" b="1" dirty="0">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Tx/>
              <a:buChar char="-"/>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Weekends: Slightly higher at 76.96%, showing marginally stronger demand</a:t>
            </a:r>
          </a:p>
          <a:p>
            <a:pPr marL="0" marR="0" lvl="0" indent="0" algn="l" defTabSz="914400" rtl="0" eaLnBrk="0" fontAlgn="base" latinLnBrk="0" hangingPunct="0">
              <a:lnSpc>
                <a:spcPct val="100000"/>
              </a:lnSpc>
              <a:spcBef>
                <a:spcPct val="0"/>
              </a:spcBef>
              <a:spcAft>
                <a:spcPct val="0"/>
              </a:spcAft>
              <a:buClrTx/>
              <a:buSzTx/>
              <a:tabLst/>
            </a:pPr>
            <a:endParaRPr lang="en-US" altLang="en-US" sz="14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The load factor is little bit more during the weekend compared to the weekday. This disparity strongly suggests that the airline's traffic is slightly heavy reliant on business travelers, regular commuters or leisure travelers, whose travel is concentrated within the traditional work week and can reach the destination during weekend.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86542D9B-305C-4269-BA23-D292EC43B28C}"/>
              </a:ext>
            </a:extLst>
          </p:cNvPr>
          <p:cNvPicPr>
            <a:picLocks noChangeAspect="1"/>
          </p:cNvPicPr>
          <p:nvPr/>
        </p:nvPicPr>
        <p:blipFill>
          <a:blip r:embed="rId3"/>
          <a:stretch>
            <a:fillRect/>
          </a:stretch>
        </p:blipFill>
        <p:spPr>
          <a:xfrm>
            <a:off x="874320" y="1898584"/>
            <a:ext cx="4519448" cy="3892616"/>
          </a:xfrm>
          <a:prstGeom prst="rect">
            <a:avLst/>
          </a:prstGeom>
        </p:spPr>
      </p:pic>
      <p:sp>
        <p:nvSpPr>
          <p:cNvPr id="16" name="TextBox 15">
            <a:extLst>
              <a:ext uri="{FF2B5EF4-FFF2-40B4-BE49-F238E27FC236}">
                <a16:creationId xmlns:a16="http://schemas.microsoft.com/office/drawing/2014/main" id="{9364C2D9-2980-4A14-A7BC-AF17D93A2FEC}"/>
              </a:ext>
            </a:extLst>
          </p:cNvPr>
          <p:cNvSpPr txBox="1"/>
          <p:nvPr/>
        </p:nvSpPr>
        <p:spPr>
          <a:xfrm>
            <a:off x="6388846" y="2305994"/>
            <a:ext cx="457201" cy="369332"/>
          </a:xfrm>
          <a:prstGeom prst="rect">
            <a:avLst/>
          </a:prstGeom>
          <a:noFill/>
        </p:spPr>
        <p:txBody>
          <a:bodyPr wrap="square">
            <a:spAutoFit/>
          </a:bodyPr>
          <a:lstStyle/>
          <a:p>
            <a:r>
              <a:rPr kumimoji="0" lang="en-US" altLang="en-US" sz="1800" b="1" i="0" u="none" strike="noStrike" cap="none" normalizeH="0" baseline="0" dirty="0">
                <a:ln>
                  <a:noFill/>
                </a:ln>
                <a:solidFill>
                  <a:schemeClr val="tx1"/>
                </a:solidFill>
                <a:effectLst/>
                <a:latin typeface="Arial" panose="020B0604020202020204" pitchFamily="34" charset="0"/>
              </a:rPr>
              <a:t>📅</a:t>
            </a:r>
            <a:endParaRPr lang="en-IN" dirty="0"/>
          </a:p>
        </p:txBody>
      </p:sp>
      <p:sp>
        <p:nvSpPr>
          <p:cNvPr id="18" name="TextBox 17">
            <a:extLst>
              <a:ext uri="{FF2B5EF4-FFF2-40B4-BE49-F238E27FC236}">
                <a16:creationId xmlns:a16="http://schemas.microsoft.com/office/drawing/2014/main" id="{88094C70-87F2-4620-84DB-DD9FB8D16F0B}"/>
              </a:ext>
            </a:extLst>
          </p:cNvPr>
          <p:cNvSpPr txBox="1"/>
          <p:nvPr/>
        </p:nvSpPr>
        <p:spPr>
          <a:xfrm>
            <a:off x="6430679" y="2936679"/>
            <a:ext cx="457202" cy="369332"/>
          </a:xfrm>
          <a:prstGeom prst="rect">
            <a:avLst/>
          </a:prstGeom>
          <a:noFill/>
        </p:spPr>
        <p:txBody>
          <a:bodyPr wrap="square">
            <a:spAutoFit/>
          </a:bodyPr>
          <a:lstStyle/>
          <a:p>
            <a:r>
              <a:rPr kumimoji="0" lang="en-US" altLang="en-US" sz="1800" b="1" i="0" u="none" strike="noStrike" cap="none" normalizeH="0" baseline="0" dirty="0">
                <a:ln>
                  <a:noFill/>
                </a:ln>
                <a:solidFill>
                  <a:schemeClr val="tx1"/>
                </a:solidFill>
                <a:effectLst/>
                <a:latin typeface="Arial" panose="020B0604020202020204" pitchFamily="34" charset="0"/>
              </a:rPr>
              <a:t>🎉</a:t>
            </a:r>
            <a:endParaRPr lang="en-IN" dirty="0"/>
          </a:p>
        </p:txBody>
      </p:sp>
    </p:spTree>
    <p:extLst>
      <p:ext uri="{BB962C8B-B14F-4D97-AF65-F5344CB8AC3E}">
        <p14:creationId xmlns:p14="http://schemas.microsoft.com/office/powerpoint/2010/main" val="2476106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221244" name="New shape"/>
          <p:cNvSpPr/>
          <p:nvPr/>
        </p:nvSpPr>
        <p:spPr bwMode="auto">
          <a:xfrm>
            <a:off x="575310" y="2133600"/>
            <a:ext cx="11040110" cy="28448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ctr">
              <a:lnSpc>
                <a:spcPct val="120000"/>
              </a:lnSpc>
              <a:spcBef>
                <a:spcPct val="0"/>
              </a:spcBef>
              <a:spcAft>
                <a:spcPct val="0"/>
              </a:spcAft>
              <a:buNone/>
              <a:defRPr/>
            </a:pPr>
            <a:r>
              <a:rPr sz="3600" b="0" i="0" u="none" dirty="0">
                <a:solidFill>
                  <a:schemeClr val="accent1"/>
                </a:solidFill>
                <a:latin typeface="+mn-lt"/>
              </a:rPr>
              <a:t>Benchmarking performance against other</a:t>
            </a:r>
            <a:endParaRPr dirty="0"/>
          </a:p>
          <a:p>
            <a:pPr marL="0" marR="0" indent="0" algn="ctr">
              <a:lnSpc>
                <a:spcPct val="120000"/>
              </a:lnSpc>
              <a:spcBef>
                <a:spcPct val="0"/>
              </a:spcBef>
              <a:spcAft>
                <a:spcPct val="0"/>
              </a:spcAft>
              <a:buNone/>
              <a:defRPr/>
            </a:pPr>
            <a:r>
              <a:rPr sz="3600" b="0" i="0" u="none" dirty="0">
                <a:solidFill>
                  <a:schemeClr val="accent1"/>
                </a:solidFill>
                <a:latin typeface="+mn-lt"/>
              </a:rPr>
              <a:t>carriers and understanding market share.</a:t>
            </a:r>
            <a:endParaRPr dirty="0"/>
          </a:p>
        </p:txBody>
      </p:sp>
      <p:sp>
        <p:nvSpPr>
          <p:cNvPr id="1190675720" name="Rectangle 1190675719"/>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SLIDELY_ONLY_OFFICE_SLIDE_ID_178526236</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2802723" name="Google Shape;21;p4"/>
          <p:cNvSpPr txBox="1">
            <a:spLocks noGrp="1"/>
          </p:cNvSpPr>
          <p:nvPr>
            <p:ph type="title" hasCustomPrompt="1"/>
          </p:nvPr>
        </p:nvSpPr>
        <p:spPr bwMode="auto">
          <a:xfrm>
            <a:off x="575734" y="131111"/>
            <a:ext cx="11040533" cy="1041197"/>
          </a:xfrm>
          <a:prstGeom prst="rect">
            <a:avLst/>
          </a:prstGeom>
          <a:noFill/>
          <a:ln w="0">
            <a:noFill/>
          </a:ln>
        </p:spPr>
        <p:txBody>
          <a:bodyPr spcFirstLastPara="1" wrap="square" lIns="0" tIns="0" rIns="0" bIns="0" anchor="ctr" anchorCtr="0">
            <a:noAutofit/>
          </a:bodyPr>
          <a:lstStyle>
            <a:lvl1pPr lvl="0">
              <a:spcBef>
                <a:spcPct val="0"/>
              </a:spcBef>
              <a:spcAft>
                <a:spcPct val="0"/>
              </a:spcAft>
              <a:buSzPts val="3200"/>
              <a:buNone/>
              <a:defRPr sz="3200" b="0">
                <a:solidFill>
                  <a:schemeClr val="bg1"/>
                </a:solidFill>
                <a:latin typeface="+mj-lt"/>
                <a:ea typeface="Calibri"/>
                <a:cs typeface="Calibri"/>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pPr>
              <a:defRPr/>
            </a:pPr>
            <a:r>
              <a:rPr sz="2800" b="0" i="0" u="none" dirty="0">
                <a:solidFill>
                  <a:schemeClr val="lt1"/>
                </a:solidFill>
                <a:latin typeface="+mj-lt"/>
              </a:rPr>
              <a:t>Top-tier carriers achieve 9</a:t>
            </a:r>
            <a:r>
              <a:rPr lang="en-US" sz="2800" b="0" i="0" u="none" dirty="0">
                <a:solidFill>
                  <a:schemeClr val="lt1"/>
                </a:solidFill>
                <a:latin typeface="+mj-lt"/>
              </a:rPr>
              <a:t>0</a:t>
            </a:r>
            <a:r>
              <a:rPr sz="2800" b="0" i="0" u="none" dirty="0">
                <a:solidFill>
                  <a:schemeClr val="lt1"/>
                </a:solidFill>
                <a:latin typeface="+mj-lt"/>
              </a:rPr>
              <a:t>% load factor, highlighting a significant performance gap</a:t>
            </a:r>
            <a:endParaRPr dirty="0"/>
          </a:p>
        </p:txBody>
      </p:sp>
      <p:sp>
        <p:nvSpPr>
          <p:cNvPr id="67678240" name="New shape"/>
          <p:cNvSpPr/>
          <p:nvPr/>
        </p:nvSpPr>
        <p:spPr bwMode="auto">
          <a:xfrm>
            <a:off x="575310" y="1397000"/>
            <a:ext cx="11040110" cy="635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000" b="0" i="0" u="none">
                <a:solidFill>
                  <a:schemeClr val="dk2"/>
                </a:solidFill>
                <a:latin typeface="+mn-lt"/>
              </a:rPr>
              <a:t>While a few carriers operate at near-full capacity, a clear gap exists, presenting an opportunity for others to enhance efficiency.</a:t>
            </a:r>
            <a:endParaRPr/>
          </a:p>
        </p:txBody>
      </p:sp>
      <p:sp>
        <p:nvSpPr>
          <p:cNvPr id="1320940664" name="New shape"/>
          <p:cNvSpPr/>
          <p:nvPr/>
        </p:nvSpPr>
        <p:spPr bwMode="auto">
          <a:xfrm>
            <a:off x="564423" y="2185147"/>
            <a:ext cx="5080000" cy="444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600" b="1" i="0" u="none" dirty="0">
                <a:solidFill>
                  <a:schemeClr val="dk2"/>
                </a:solidFill>
                <a:latin typeface="+mj-lt"/>
              </a:rPr>
              <a:t>Key Insights</a:t>
            </a:r>
            <a:endParaRPr dirty="0"/>
          </a:p>
        </p:txBody>
      </p:sp>
      <p:sp>
        <p:nvSpPr>
          <p:cNvPr id="1385180851" name="New shape"/>
          <p:cNvSpPr/>
          <p:nvPr/>
        </p:nvSpPr>
        <p:spPr bwMode="auto">
          <a:xfrm>
            <a:off x="575310" y="2726389"/>
            <a:ext cx="5207000" cy="4000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63500" marR="0" algn="l">
              <a:lnSpc>
                <a:spcPct val="100000"/>
              </a:lnSpc>
              <a:spcBef>
                <a:spcPct val="0"/>
              </a:spcBef>
              <a:spcAft>
                <a:spcPct val="0"/>
              </a:spcAft>
              <a:buClr>
                <a:schemeClr val="accent1"/>
              </a:buClr>
              <a:buSzTx/>
              <a:defRPr/>
            </a:pPr>
            <a:r>
              <a:rPr sz="2000" b="1" i="0" u="none" dirty="0">
                <a:solidFill>
                  <a:schemeClr val="dk2"/>
                </a:solidFill>
                <a:latin typeface="+mn-lt"/>
              </a:rPr>
              <a:t>Leadership Tier: </a:t>
            </a:r>
            <a:r>
              <a:rPr sz="2000" b="0" i="0" u="none" dirty="0">
                <a:solidFill>
                  <a:schemeClr val="dk2"/>
                </a:solidFill>
                <a:latin typeface="+mn-lt"/>
              </a:rPr>
              <a:t>Four carriers—</a:t>
            </a:r>
            <a:r>
              <a:rPr sz="2000" b="0" i="0" u="none" dirty="0" err="1">
                <a:solidFill>
                  <a:schemeClr val="dk2"/>
                </a:solidFill>
                <a:latin typeface="+mn-lt"/>
              </a:rPr>
              <a:t>Globespan</a:t>
            </a:r>
            <a:r>
              <a:rPr sz="2000" b="0" i="0" u="none" dirty="0">
                <a:solidFill>
                  <a:schemeClr val="dk2"/>
                </a:solidFill>
                <a:latin typeface="+mn-lt"/>
              </a:rPr>
              <a:t> Airways, </a:t>
            </a:r>
            <a:r>
              <a:rPr lang="en-US" sz="2000" b="0" i="0" u="none" dirty="0" err="1">
                <a:solidFill>
                  <a:schemeClr val="dk2"/>
                </a:solidFill>
                <a:latin typeface="+mn-lt"/>
              </a:rPr>
              <a:t>Alegiant</a:t>
            </a:r>
            <a:r>
              <a:rPr lang="en-US" sz="2000" b="0" i="0" u="none" dirty="0">
                <a:solidFill>
                  <a:schemeClr val="dk2"/>
                </a:solidFill>
                <a:latin typeface="+mn-lt"/>
              </a:rPr>
              <a:t> Air, XL Airways &amp; </a:t>
            </a:r>
            <a:r>
              <a:rPr sz="2000" b="0" i="0" u="none" dirty="0">
                <a:solidFill>
                  <a:schemeClr val="dk2"/>
                </a:solidFill>
                <a:latin typeface="+mn-lt"/>
              </a:rPr>
              <a:t>Sichuan Airlines</a:t>
            </a:r>
            <a:r>
              <a:rPr lang="en-US" sz="2000" b="0" i="0" u="none" dirty="0">
                <a:solidFill>
                  <a:schemeClr val="dk2"/>
                </a:solidFill>
                <a:latin typeface="+mn-lt"/>
              </a:rPr>
              <a:t> </a:t>
            </a:r>
            <a:r>
              <a:rPr sz="2000" b="0" i="0" u="none" dirty="0">
                <a:solidFill>
                  <a:schemeClr val="dk2"/>
                </a:solidFill>
                <a:latin typeface="+mn-lt"/>
              </a:rPr>
              <a:t>set the industry benchmark with an impressive </a:t>
            </a:r>
            <a:r>
              <a:rPr sz="2000" b="1" i="0" u="none" dirty="0">
                <a:solidFill>
                  <a:schemeClr val="dk2"/>
                </a:solidFill>
                <a:latin typeface="+mn-lt"/>
              </a:rPr>
              <a:t>9</a:t>
            </a:r>
            <a:r>
              <a:rPr lang="en-US" sz="2000" b="1" i="0" u="none" dirty="0">
                <a:solidFill>
                  <a:schemeClr val="dk2"/>
                </a:solidFill>
                <a:latin typeface="+mn-lt"/>
              </a:rPr>
              <a:t>0</a:t>
            </a:r>
            <a:r>
              <a:rPr sz="2000" b="1" i="0" u="none" dirty="0">
                <a:solidFill>
                  <a:schemeClr val="dk2"/>
                </a:solidFill>
                <a:latin typeface="+mn-lt"/>
              </a:rPr>
              <a:t>% load factor</a:t>
            </a:r>
            <a:r>
              <a:rPr sz="2000" b="0" i="0" u="none" dirty="0">
                <a:solidFill>
                  <a:schemeClr val="dk2"/>
                </a:solidFill>
                <a:latin typeface="+mn-lt"/>
              </a:rPr>
              <a:t>.</a:t>
            </a:r>
            <a:endParaRPr lang="en-US" sz="2000" b="0" i="0" u="none" dirty="0">
              <a:solidFill>
                <a:schemeClr val="dk2"/>
              </a:solidFill>
              <a:latin typeface="+mn-lt"/>
            </a:endParaRPr>
          </a:p>
          <a:p>
            <a:pPr marL="63500" marR="0" algn="l">
              <a:lnSpc>
                <a:spcPct val="100000"/>
              </a:lnSpc>
              <a:spcBef>
                <a:spcPct val="0"/>
              </a:spcBef>
              <a:spcAft>
                <a:spcPct val="0"/>
              </a:spcAft>
              <a:buClr>
                <a:schemeClr val="accent1"/>
              </a:buClr>
              <a:buSzTx/>
              <a:defRPr/>
            </a:pPr>
            <a:endParaRPr dirty="0"/>
          </a:p>
          <a:p>
            <a:pPr marL="63500" marR="0" algn="l">
              <a:lnSpc>
                <a:spcPct val="100000"/>
              </a:lnSpc>
              <a:spcBef>
                <a:spcPct val="0"/>
              </a:spcBef>
              <a:spcAft>
                <a:spcPct val="0"/>
              </a:spcAft>
              <a:buClr>
                <a:schemeClr val="accent1"/>
              </a:buClr>
              <a:buSzTx/>
              <a:defRPr/>
            </a:pPr>
            <a:r>
              <a:rPr sz="2000" b="1" i="0" u="none" dirty="0">
                <a:solidFill>
                  <a:schemeClr val="dk2"/>
                </a:solidFill>
                <a:latin typeface="+mn-lt"/>
              </a:rPr>
              <a:t>Performance Opportunity: </a:t>
            </a:r>
            <a:r>
              <a:rPr sz="2000" b="0" i="0" u="none" dirty="0">
                <a:solidFill>
                  <a:schemeClr val="dk2"/>
                </a:solidFill>
                <a:latin typeface="+mn-lt"/>
              </a:rPr>
              <a:t>A distinct gap of </a:t>
            </a:r>
            <a:r>
              <a:rPr sz="2000" b="1" i="0" u="none" dirty="0">
                <a:solidFill>
                  <a:schemeClr val="dk2"/>
                </a:solidFill>
                <a:latin typeface="+mn-lt"/>
              </a:rPr>
              <a:t>up to </a:t>
            </a:r>
            <a:r>
              <a:rPr lang="en-US" sz="2000" b="1" i="0" u="none" dirty="0">
                <a:solidFill>
                  <a:schemeClr val="dk2"/>
                </a:solidFill>
                <a:latin typeface="+mn-lt"/>
              </a:rPr>
              <a:t>11</a:t>
            </a:r>
            <a:r>
              <a:rPr sz="2000" b="1" i="0" u="none" dirty="0">
                <a:solidFill>
                  <a:schemeClr val="dk2"/>
                </a:solidFill>
                <a:latin typeface="+mn-lt"/>
              </a:rPr>
              <a:t> percentage points</a:t>
            </a:r>
            <a:r>
              <a:rPr sz="2000" b="0" i="0" u="none" dirty="0">
                <a:solidFill>
                  <a:schemeClr val="dk2"/>
                </a:solidFill>
                <a:latin typeface="+mn-lt"/>
              </a:rPr>
              <a:t> separates</a:t>
            </a:r>
            <a:r>
              <a:rPr lang="en-IN" sz="2000" b="0" i="0" u="none" dirty="0">
                <a:solidFill>
                  <a:schemeClr val="dk2"/>
                </a:solidFill>
                <a:latin typeface="+mn-lt"/>
              </a:rPr>
              <a:t> the </a:t>
            </a:r>
            <a:r>
              <a:rPr lang="en-US" sz="2000" b="0" i="0" u="none" dirty="0">
                <a:solidFill>
                  <a:schemeClr val="dk2"/>
                </a:solidFill>
                <a:latin typeface="+mn-lt"/>
              </a:rPr>
              <a:t>leaders from the lower end of the top 10 </a:t>
            </a:r>
            <a:r>
              <a:rPr lang="en-US" sz="2000" b="0" i="0" u="none" dirty="0" err="1">
                <a:solidFill>
                  <a:schemeClr val="dk2"/>
                </a:solidFill>
                <a:latin typeface="+mn-lt"/>
              </a:rPr>
              <a:t>Globespan</a:t>
            </a:r>
            <a:r>
              <a:rPr lang="en-US" sz="2000" b="0" i="0" u="none" dirty="0">
                <a:solidFill>
                  <a:schemeClr val="dk2"/>
                </a:solidFill>
                <a:latin typeface="+mn-lt"/>
              </a:rPr>
              <a:t> Airways leads with 94.76%, far above industry averages.</a:t>
            </a:r>
          </a:p>
          <a:p>
            <a:pPr marL="63500" marR="0" algn="l">
              <a:lnSpc>
                <a:spcPct val="100000"/>
              </a:lnSpc>
              <a:spcBef>
                <a:spcPct val="0"/>
              </a:spcBef>
              <a:spcAft>
                <a:spcPct val="0"/>
              </a:spcAft>
              <a:buClr>
                <a:schemeClr val="accent1"/>
              </a:buClr>
              <a:buSzTx/>
              <a:defRPr/>
            </a:pPr>
            <a:endParaRPr lang="en-US" sz="2000" b="0" i="0" u="none" dirty="0">
              <a:solidFill>
                <a:schemeClr val="dk2"/>
              </a:solidFill>
              <a:latin typeface="+mn-lt"/>
            </a:endParaRPr>
          </a:p>
          <a:p>
            <a:pPr marL="63500" marR="0" algn="l">
              <a:lnSpc>
                <a:spcPct val="100000"/>
              </a:lnSpc>
              <a:spcBef>
                <a:spcPct val="0"/>
              </a:spcBef>
              <a:spcAft>
                <a:spcPct val="0"/>
              </a:spcAft>
              <a:buClr>
                <a:schemeClr val="accent1"/>
              </a:buClr>
              <a:buSzTx/>
              <a:defRPr/>
            </a:pPr>
            <a:r>
              <a:rPr lang="en-US" sz="2000" b="0" i="0" u="none" dirty="0">
                <a:solidFill>
                  <a:schemeClr val="dk2"/>
                </a:solidFill>
                <a:latin typeface="+mn-lt"/>
              </a:rPr>
              <a:t>The overall range of 83–94% reflects strong operational discipline across carriers</a:t>
            </a:r>
            <a:endParaRPr lang="en-US" dirty="0"/>
          </a:p>
        </p:txBody>
      </p:sp>
      <p:sp>
        <p:nvSpPr>
          <p:cNvPr id="566053369" name="Rectangle 566053368"/>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SLIDELY_ONLY_OFFICE_SLIDE_ID_180093995</a:t>
            </a:r>
            <a:endParaRPr/>
          </a:p>
        </p:txBody>
      </p:sp>
      <p:pic>
        <p:nvPicPr>
          <p:cNvPr id="3" name="Picture 2">
            <a:extLst>
              <a:ext uri="{FF2B5EF4-FFF2-40B4-BE49-F238E27FC236}">
                <a16:creationId xmlns:a16="http://schemas.microsoft.com/office/drawing/2014/main" id="{F46E1CC0-19D7-41BC-AE2E-7DF02667CB29}"/>
              </a:ext>
            </a:extLst>
          </p:cNvPr>
          <p:cNvPicPr>
            <a:picLocks noChangeAspect="1"/>
          </p:cNvPicPr>
          <p:nvPr/>
        </p:nvPicPr>
        <p:blipFill>
          <a:blip r:embed="rId3"/>
          <a:stretch>
            <a:fillRect/>
          </a:stretch>
        </p:blipFill>
        <p:spPr>
          <a:xfrm>
            <a:off x="6536692" y="2529032"/>
            <a:ext cx="4969508" cy="3947968"/>
          </a:xfrm>
          <a:prstGeom prst="rect">
            <a:avLst/>
          </a:prstGeom>
        </p:spPr>
      </p:pic>
      <p:pic>
        <p:nvPicPr>
          <p:cNvPr id="11" name="New picture">
            <a:extLst>
              <a:ext uri="{FF2B5EF4-FFF2-40B4-BE49-F238E27FC236}">
                <a16:creationId xmlns:a16="http://schemas.microsoft.com/office/drawing/2014/main" id="{333C62C7-B236-4AA3-9E72-3C37846BC63A}"/>
              </a:ext>
            </a:extLst>
          </p:cNvPr>
          <p:cNvPicPr/>
          <p:nvPr/>
        </p:nvPicPr>
        <p:blipFill>
          <a:blip r:embed="rId4">
            <a:extLst>
              <a:ext uri="{96DAC541-7B7A-43D3-8B79-37D633B846F1}">
                <asvg:svgBlip xmlns:asvg="http://schemas.microsoft.com/office/drawing/2016/SVG/main" r:embed="rId5"/>
              </a:ext>
            </a:extLst>
          </a:blip>
          <a:stretch>
            <a:fillRect/>
          </a:stretch>
        </p:blipFill>
        <p:spPr bwMode="auto">
          <a:xfrm>
            <a:off x="321310" y="2816239"/>
            <a:ext cx="254000" cy="254000"/>
          </a:xfrm>
          <a:prstGeom prst="rect">
            <a:avLst/>
          </a:prstGeom>
        </p:spPr>
      </p:pic>
      <p:pic>
        <p:nvPicPr>
          <p:cNvPr id="12" name="New picture">
            <a:extLst>
              <a:ext uri="{FF2B5EF4-FFF2-40B4-BE49-F238E27FC236}">
                <a16:creationId xmlns:a16="http://schemas.microsoft.com/office/drawing/2014/main" id="{8286E49C-CF87-4D6E-8D72-8FB4D9949125}"/>
              </a:ext>
            </a:extLst>
          </p:cNvPr>
          <p:cNvPicPr/>
          <p:nvPr/>
        </p:nvPicPr>
        <p:blipFill>
          <a:blip r:embed="rId4">
            <a:extLst>
              <a:ext uri="{96DAC541-7B7A-43D3-8B79-37D633B846F1}">
                <asvg:svgBlip xmlns:asvg="http://schemas.microsoft.com/office/drawing/2016/SVG/main" r:embed="rId5"/>
              </a:ext>
            </a:extLst>
          </a:blip>
          <a:stretch>
            <a:fillRect/>
          </a:stretch>
        </p:blipFill>
        <p:spPr bwMode="auto">
          <a:xfrm>
            <a:off x="310423" y="4254444"/>
            <a:ext cx="254000" cy="254000"/>
          </a:xfrm>
          <a:prstGeom prst="rect">
            <a:avLst/>
          </a:prstGeom>
        </p:spPr>
      </p:pic>
      <p:pic>
        <p:nvPicPr>
          <p:cNvPr id="13" name="New picture">
            <a:extLst>
              <a:ext uri="{FF2B5EF4-FFF2-40B4-BE49-F238E27FC236}">
                <a16:creationId xmlns:a16="http://schemas.microsoft.com/office/drawing/2014/main" id="{6580AE09-3631-4FC1-811F-39317F26216A}"/>
              </a:ext>
            </a:extLst>
          </p:cNvPr>
          <p:cNvPicPr/>
          <p:nvPr/>
        </p:nvPicPr>
        <p:blipFill>
          <a:blip r:embed="rId4">
            <a:extLst>
              <a:ext uri="{96DAC541-7B7A-43D3-8B79-37D633B846F1}">
                <asvg:svgBlip xmlns:asvg="http://schemas.microsoft.com/office/drawing/2016/SVG/main" r:embed="rId5"/>
              </a:ext>
            </a:extLst>
          </a:blip>
          <a:stretch>
            <a:fillRect/>
          </a:stretch>
        </p:blipFill>
        <p:spPr bwMode="auto">
          <a:xfrm>
            <a:off x="321310" y="6096000"/>
            <a:ext cx="254000" cy="25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1453457" name="Google Shape;21;p4"/>
          <p:cNvSpPr txBox="1">
            <a:spLocks noGrp="1"/>
          </p:cNvSpPr>
          <p:nvPr>
            <p:ph type="title" hasCustomPrompt="1"/>
          </p:nvPr>
        </p:nvSpPr>
        <p:spPr bwMode="auto">
          <a:xfrm>
            <a:off x="575734" y="131111"/>
            <a:ext cx="11040533" cy="1041197"/>
          </a:xfrm>
          <a:prstGeom prst="rect">
            <a:avLst/>
          </a:prstGeom>
          <a:noFill/>
          <a:ln w="0">
            <a:noFill/>
          </a:ln>
        </p:spPr>
        <p:txBody>
          <a:bodyPr spcFirstLastPara="1" wrap="square" lIns="0" tIns="0" rIns="0" bIns="0" anchor="ctr" anchorCtr="0">
            <a:noAutofit/>
          </a:bodyPr>
          <a:lstStyle>
            <a:lvl1pPr lvl="0">
              <a:spcBef>
                <a:spcPct val="0"/>
              </a:spcBef>
              <a:spcAft>
                <a:spcPct val="0"/>
              </a:spcAft>
              <a:buSzPts val="3200"/>
              <a:buNone/>
              <a:defRPr sz="3200" b="0">
                <a:solidFill>
                  <a:schemeClr val="bg1"/>
                </a:solidFill>
                <a:latin typeface="+mj-lt"/>
                <a:ea typeface="Calibri"/>
                <a:cs typeface="Calibri"/>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pPr>
              <a:defRPr/>
            </a:pPr>
            <a:r>
              <a:rPr sz="3200" b="0" i="0" u="none" dirty="0">
                <a:solidFill>
                  <a:schemeClr val="lt1"/>
                </a:solidFill>
                <a:latin typeface="+mj-lt"/>
              </a:rPr>
              <a:t>Southwest Airlines dominates passenger volume, capturing a massive </a:t>
            </a:r>
            <a:r>
              <a:rPr lang="en-US" sz="3200" b="0" i="0" u="none" dirty="0">
                <a:solidFill>
                  <a:schemeClr val="lt1"/>
                </a:solidFill>
                <a:latin typeface="+mj-lt"/>
              </a:rPr>
              <a:t>26.4 % passengers preference.</a:t>
            </a:r>
            <a:endParaRPr dirty="0"/>
          </a:p>
        </p:txBody>
      </p:sp>
      <p:sp>
        <p:nvSpPr>
          <p:cNvPr id="1148673312" name="New shape"/>
          <p:cNvSpPr/>
          <p:nvPr/>
        </p:nvSpPr>
        <p:spPr bwMode="auto">
          <a:xfrm>
            <a:off x="575310" y="1397000"/>
            <a:ext cx="1104011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1800" b="0" i="0" u="none">
                <a:solidFill>
                  <a:schemeClr val="lt2"/>
                </a:solidFill>
                <a:latin typeface="+mn-lt"/>
              </a:rPr>
              <a:t>The market is highly concentrated, with Southwest Airlines standing out as the clear passenger preference by a wide margin.</a:t>
            </a:r>
            <a:endParaRPr/>
          </a:p>
        </p:txBody>
      </p:sp>
      <p:sp>
        <p:nvSpPr>
          <p:cNvPr id="1207076024" name="New shape"/>
          <p:cNvSpPr/>
          <p:nvPr/>
        </p:nvSpPr>
        <p:spPr bwMode="auto">
          <a:xfrm flipH="1">
            <a:off x="6350000" y="2032000"/>
            <a:ext cx="0" cy="4572000"/>
          </a:xfrm>
          <a:prstGeom prst="straightConnector1">
            <a:avLst/>
          </a:prstGeom>
          <a:noFill/>
          <a:ln w="12700" cmpd="sng">
            <a:solidFill>
              <a:schemeClr val="accent5">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a:defRPr sz="1800">
                <a:solidFill>
                  <a:srgbClr val="042440"/>
                </a:solidFill>
                <a:latin typeface="Calibri"/>
                <a:ea typeface="+mn-ea"/>
                <a:cs typeface="+mn-cs"/>
              </a:defRPr>
            </a:lvl1pPr>
            <a:lvl2pPr marL="457200" algn="l" defTabSz="914400" rtl="0">
              <a:defRPr sz="1800">
                <a:solidFill>
                  <a:srgbClr val="042440"/>
                </a:solidFill>
                <a:latin typeface="Calibri"/>
                <a:ea typeface="+mn-ea"/>
                <a:cs typeface="+mn-cs"/>
              </a:defRPr>
            </a:lvl2pPr>
            <a:lvl3pPr marL="914400" algn="l" defTabSz="914400" rtl="0">
              <a:defRPr sz="1800">
                <a:solidFill>
                  <a:srgbClr val="042440"/>
                </a:solidFill>
                <a:latin typeface="Calibri"/>
                <a:ea typeface="+mn-ea"/>
                <a:cs typeface="+mn-cs"/>
              </a:defRPr>
            </a:lvl3pPr>
            <a:lvl4pPr marL="1371600" algn="l" defTabSz="914400" rtl="0">
              <a:defRPr sz="1800">
                <a:solidFill>
                  <a:srgbClr val="042440"/>
                </a:solidFill>
                <a:latin typeface="Calibri"/>
                <a:ea typeface="+mn-ea"/>
                <a:cs typeface="+mn-cs"/>
              </a:defRPr>
            </a:lvl4pPr>
            <a:lvl5pPr marL="1828800" algn="l" defTabSz="914400" rtl="0">
              <a:defRPr sz="1800">
                <a:solidFill>
                  <a:srgbClr val="042440"/>
                </a:solidFill>
                <a:latin typeface="Calibri"/>
                <a:ea typeface="+mn-ea"/>
                <a:cs typeface="+mn-cs"/>
              </a:defRPr>
            </a:lvl5pPr>
            <a:lvl6pPr marL="2286000" algn="l" defTabSz="914400" rtl="0">
              <a:defRPr sz="1800">
                <a:solidFill>
                  <a:srgbClr val="042440"/>
                </a:solidFill>
                <a:latin typeface="Calibri"/>
                <a:ea typeface="+mn-ea"/>
                <a:cs typeface="+mn-cs"/>
              </a:defRPr>
            </a:lvl6pPr>
            <a:lvl7pPr marL="2743200" algn="l" defTabSz="914400" rtl="0">
              <a:defRPr sz="1800">
                <a:solidFill>
                  <a:srgbClr val="042440"/>
                </a:solidFill>
                <a:latin typeface="Calibri"/>
                <a:ea typeface="+mn-ea"/>
                <a:cs typeface="+mn-cs"/>
              </a:defRPr>
            </a:lvl7pPr>
            <a:lvl8pPr marL="3200400" algn="l" defTabSz="914400" rtl="0">
              <a:defRPr sz="1800">
                <a:solidFill>
                  <a:srgbClr val="042440"/>
                </a:solidFill>
                <a:latin typeface="Calibri"/>
                <a:ea typeface="+mn-ea"/>
                <a:cs typeface="+mn-cs"/>
              </a:defRPr>
            </a:lvl8pPr>
            <a:lvl9pPr marL="3657600" algn="l" defTabSz="914400" rtl="0">
              <a:defRPr sz="1800">
                <a:solidFill>
                  <a:srgbClr val="042440"/>
                </a:solidFill>
                <a:latin typeface="Calibri"/>
                <a:ea typeface="+mn-ea"/>
                <a:cs typeface="+mn-cs"/>
              </a:defRPr>
            </a:lvl9pPr>
          </a:lstStyle>
          <a:p>
            <a:pPr algn="ctr">
              <a:defRPr/>
            </a:pPr>
            <a:endParaRPr/>
          </a:p>
        </p:txBody>
      </p:sp>
      <p:sp>
        <p:nvSpPr>
          <p:cNvPr id="2105728453" name="New shape"/>
          <p:cNvSpPr/>
          <p:nvPr/>
        </p:nvSpPr>
        <p:spPr bwMode="auto">
          <a:xfrm>
            <a:off x="6604000" y="2032000"/>
            <a:ext cx="4953000" cy="38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ctr">
              <a:lnSpc>
                <a:spcPct val="100000"/>
              </a:lnSpc>
              <a:spcBef>
                <a:spcPct val="0"/>
              </a:spcBef>
              <a:spcAft>
                <a:spcPct val="0"/>
              </a:spcAft>
              <a:buNone/>
              <a:defRPr/>
            </a:pPr>
            <a:r>
              <a:rPr sz="1600" b="1" i="0" u="none">
                <a:solidFill>
                  <a:schemeClr val="lt2"/>
                </a:solidFill>
                <a:latin typeface="+mn-lt"/>
              </a:rPr>
              <a:t>Key Insights</a:t>
            </a:r>
            <a:endParaRPr/>
          </a:p>
        </p:txBody>
      </p:sp>
      <p:pic>
        <p:nvPicPr>
          <p:cNvPr id="1921096088" name="New picture"/>
          <p:cNvPicPr/>
          <p:nvPr/>
        </p:nvPicPr>
        <p:blipFill>
          <a:blip r:embed="rId3">
            <a:extLst>
              <a:ext uri="{96DAC541-7B7A-43D3-8B79-37D633B846F1}">
                <asvg:svgBlip xmlns:asvg="http://schemas.microsoft.com/office/drawing/2016/SVG/main" r:embed="rId4"/>
              </a:ext>
            </a:extLst>
          </a:blip>
          <a:stretch>
            <a:fillRect/>
          </a:stretch>
        </p:blipFill>
        <p:spPr bwMode="auto">
          <a:xfrm>
            <a:off x="6604000" y="2565400"/>
            <a:ext cx="254000" cy="254000"/>
          </a:xfrm>
          <a:prstGeom prst="rect">
            <a:avLst/>
          </a:prstGeom>
        </p:spPr>
      </p:pic>
      <p:sp>
        <p:nvSpPr>
          <p:cNvPr id="1020939615" name="New shape"/>
          <p:cNvSpPr/>
          <p:nvPr/>
        </p:nvSpPr>
        <p:spPr bwMode="auto">
          <a:xfrm>
            <a:off x="6985000" y="2540000"/>
            <a:ext cx="4572000" cy="1270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lang="en-US" sz="1800" b="1" i="0" u="none" dirty="0">
                <a:solidFill>
                  <a:schemeClr val="lt2"/>
                </a:solidFill>
                <a:latin typeface="+mn-lt"/>
              </a:rPr>
              <a:t>Clear Market Leader: </a:t>
            </a:r>
            <a:r>
              <a:rPr lang="en-US" sz="1800" b="0" i="0" u="none" dirty="0">
                <a:solidFill>
                  <a:schemeClr val="lt2"/>
                </a:solidFill>
                <a:latin typeface="+mn-lt"/>
              </a:rPr>
              <a:t>Southwest Airlines about (26.4%) and Delta Air Lines (22.3%) which dominate, together accounting for nearly half of all passengers.</a:t>
            </a:r>
          </a:p>
          <a:p>
            <a:pPr marL="0" marR="0" indent="0" algn="l">
              <a:lnSpc>
                <a:spcPct val="100000"/>
              </a:lnSpc>
              <a:spcBef>
                <a:spcPct val="0"/>
              </a:spcBef>
              <a:spcAft>
                <a:spcPct val="0"/>
              </a:spcAft>
              <a:buNone/>
              <a:defRPr/>
            </a:pPr>
            <a:endParaRPr lang="en-US" dirty="0"/>
          </a:p>
        </p:txBody>
      </p:sp>
      <p:pic>
        <p:nvPicPr>
          <p:cNvPr id="1028219108" name="New picture"/>
          <p:cNvPicPr/>
          <p:nvPr/>
        </p:nvPicPr>
        <p:blipFill>
          <a:blip r:embed="rId3">
            <a:extLst>
              <a:ext uri="{96DAC541-7B7A-43D3-8B79-37D633B846F1}">
                <asvg:svgBlip xmlns:asvg="http://schemas.microsoft.com/office/drawing/2016/SVG/main" r:embed="rId4"/>
              </a:ext>
            </a:extLst>
          </a:blip>
          <a:stretch>
            <a:fillRect/>
          </a:stretch>
        </p:blipFill>
        <p:spPr bwMode="auto">
          <a:xfrm>
            <a:off x="6604000" y="3962400"/>
            <a:ext cx="254000" cy="254000"/>
          </a:xfrm>
          <a:prstGeom prst="rect">
            <a:avLst/>
          </a:prstGeom>
        </p:spPr>
      </p:pic>
      <p:sp>
        <p:nvSpPr>
          <p:cNvPr id="464327629" name="New shape"/>
          <p:cNvSpPr/>
          <p:nvPr/>
        </p:nvSpPr>
        <p:spPr bwMode="auto">
          <a:xfrm>
            <a:off x="6985000" y="3937000"/>
            <a:ext cx="4572000" cy="152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lang="en-US" sz="1800" b="1" i="0" u="none" dirty="0">
                <a:solidFill>
                  <a:schemeClr val="lt2"/>
                </a:solidFill>
                <a:latin typeface="+mn-lt"/>
              </a:rPr>
              <a:t>Significant Disparity: </a:t>
            </a:r>
            <a:r>
              <a:rPr lang="en-US" sz="1800" b="0" i="0" u="none" dirty="0">
                <a:solidFill>
                  <a:schemeClr val="lt2"/>
                </a:solidFill>
                <a:latin typeface="+mn-lt"/>
              </a:rPr>
              <a:t>The top 4 carriers control over all 70% of the market compare to lower bottom carriers, showing a highly concentrated industry.</a:t>
            </a:r>
            <a:endParaRPr lang="en-US" dirty="0"/>
          </a:p>
        </p:txBody>
      </p:sp>
      <p:sp>
        <p:nvSpPr>
          <p:cNvPr id="363230437" name="Rectangle 363230436"/>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SLIDELY_ONLY_OFFICE_SLIDE_ID_167845650</a:t>
            </a:r>
            <a:endParaRPr/>
          </a:p>
        </p:txBody>
      </p:sp>
      <p:pic>
        <p:nvPicPr>
          <p:cNvPr id="3" name="Picture 2">
            <a:extLst>
              <a:ext uri="{FF2B5EF4-FFF2-40B4-BE49-F238E27FC236}">
                <a16:creationId xmlns:a16="http://schemas.microsoft.com/office/drawing/2014/main" id="{24BB29F6-EF6D-4BD2-8744-B90CBC4EEF43}"/>
              </a:ext>
            </a:extLst>
          </p:cNvPr>
          <p:cNvPicPr>
            <a:picLocks noChangeAspect="1"/>
          </p:cNvPicPr>
          <p:nvPr/>
        </p:nvPicPr>
        <p:blipFill>
          <a:blip r:embed="rId5"/>
          <a:stretch>
            <a:fillRect/>
          </a:stretch>
        </p:blipFill>
        <p:spPr>
          <a:xfrm>
            <a:off x="575310" y="2413000"/>
            <a:ext cx="5266683" cy="39687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02876927" name="New shape"/>
          <p:cNvSpPr/>
          <p:nvPr/>
        </p:nvSpPr>
        <p:spPr bwMode="auto">
          <a:xfrm>
            <a:off x="575310" y="2286000"/>
            <a:ext cx="11040110" cy="253238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ctr">
              <a:lnSpc>
                <a:spcPct val="100000"/>
              </a:lnSpc>
              <a:spcBef>
                <a:spcPct val="0"/>
              </a:spcBef>
              <a:spcAft>
                <a:spcPct val="0"/>
              </a:spcAft>
              <a:buNone/>
              <a:defRPr/>
            </a:pPr>
            <a:r>
              <a:rPr sz="2800" b="0" i="0" u="none" dirty="0">
                <a:solidFill>
                  <a:schemeClr val="accent1"/>
                </a:solidFill>
                <a:latin typeface="+mn-lt"/>
              </a:rPr>
              <a:t>Analyzing flight patterns, popular routes, and travel</a:t>
            </a:r>
            <a:endParaRPr dirty="0"/>
          </a:p>
          <a:p>
            <a:pPr marL="0" marR="0" indent="0" algn="ctr">
              <a:lnSpc>
                <a:spcPct val="100000"/>
              </a:lnSpc>
              <a:spcBef>
                <a:spcPct val="0"/>
              </a:spcBef>
              <a:spcAft>
                <a:spcPct val="0"/>
              </a:spcAft>
              <a:buNone/>
              <a:defRPr/>
            </a:pPr>
            <a:r>
              <a:rPr sz="2800" b="0" i="0" u="none" dirty="0">
                <a:solidFill>
                  <a:schemeClr val="accent1"/>
                </a:solidFill>
                <a:latin typeface="+mn-lt"/>
              </a:rPr>
              <a:t>behavior to optimize connectivity and service.</a:t>
            </a:r>
            <a:endParaRPr dirty="0"/>
          </a:p>
        </p:txBody>
      </p:sp>
      <p:sp>
        <p:nvSpPr>
          <p:cNvPr id="859115122" name="Rectangle 859115121"/>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SLIDELY_ONLY_OFFICE_SLIDE_ID_113716021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6942928" name="Google Shape;21;p4"/>
          <p:cNvSpPr txBox="1">
            <a:spLocks noGrp="1"/>
          </p:cNvSpPr>
          <p:nvPr>
            <p:ph type="title" hasCustomPrompt="1"/>
          </p:nvPr>
        </p:nvSpPr>
        <p:spPr bwMode="auto">
          <a:xfrm>
            <a:off x="575734" y="131111"/>
            <a:ext cx="11040533" cy="1041197"/>
          </a:xfrm>
          <a:prstGeom prst="rect">
            <a:avLst/>
          </a:prstGeom>
          <a:noFill/>
          <a:ln w="0">
            <a:noFill/>
          </a:ln>
        </p:spPr>
        <p:txBody>
          <a:bodyPr spcFirstLastPara="1" wrap="square" lIns="0" tIns="0" rIns="0" bIns="0" anchor="ctr" anchorCtr="0">
            <a:noAutofit/>
          </a:bodyPr>
          <a:lstStyle>
            <a:lvl1pPr lvl="0">
              <a:spcBef>
                <a:spcPct val="0"/>
              </a:spcBef>
              <a:spcAft>
                <a:spcPct val="0"/>
              </a:spcAft>
              <a:buSzPts val="3200"/>
              <a:buNone/>
              <a:defRPr sz="3200" b="0">
                <a:solidFill>
                  <a:schemeClr val="bg1"/>
                </a:solidFill>
                <a:latin typeface="+mj-lt"/>
                <a:ea typeface="Calibri"/>
                <a:cs typeface="Calibri"/>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pPr>
              <a:defRPr/>
            </a:pPr>
            <a:r>
              <a:rPr sz="2400" b="1" i="0" u="none" dirty="0">
                <a:latin typeface="+mn-lt"/>
              </a:rPr>
              <a:t>The </a:t>
            </a:r>
            <a:r>
              <a:rPr lang="en-IN" sz="2400" b="1" i="0" u="none" dirty="0">
                <a:latin typeface="+mn-lt"/>
              </a:rPr>
              <a:t>Chicago–Detroit</a:t>
            </a:r>
            <a:r>
              <a:rPr sz="2400" b="1" i="0" u="none" dirty="0">
                <a:latin typeface="+mn-lt"/>
              </a:rPr>
              <a:t> </a:t>
            </a:r>
            <a:r>
              <a:rPr lang="en-US" sz="2400" b="1" i="0" u="none" dirty="0">
                <a:latin typeface="+mn-lt"/>
              </a:rPr>
              <a:t>Route</a:t>
            </a:r>
            <a:r>
              <a:rPr sz="2400" b="1" i="0" u="none" dirty="0">
                <a:latin typeface="+mn-lt"/>
              </a:rPr>
              <a:t> leads a highly concentrated domestic network</a:t>
            </a:r>
            <a:endParaRPr sz="5400" b="1" dirty="0"/>
          </a:p>
        </p:txBody>
      </p:sp>
      <p:sp>
        <p:nvSpPr>
          <p:cNvPr id="1155977438" name="New shape"/>
          <p:cNvSpPr/>
          <p:nvPr/>
        </p:nvSpPr>
        <p:spPr bwMode="auto">
          <a:xfrm>
            <a:off x="575310" y="2159000"/>
            <a:ext cx="3302000" cy="444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600" b="1" i="0" u="none" dirty="0">
                <a:solidFill>
                  <a:schemeClr val="lt2"/>
                </a:solidFill>
                <a:latin typeface="+mn-lt"/>
              </a:rPr>
              <a:t>Network Insights</a:t>
            </a:r>
            <a:endParaRPr dirty="0"/>
          </a:p>
        </p:txBody>
      </p:sp>
      <p:pic>
        <p:nvPicPr>
          <p:cNvPr id="1269576179" name="New picture"/>
          <p:cNvPicPr/>
          <p:nvPr/>
        </p:nvPicPr>
        <p:blipFill>
          <a:blip r:embed="rId3">
            <a:extLst>
              <a:ext uri="{96DAC541-7B7A-43D3-8B79-37D633B846F1}">
                <asvg:svgBlip xmlns:asvg="http://schemas.microsoft.com/office/drawing/2016/SVG/main" r:embed="rId4"/>
              </a:ext>
            </a:extLst>
          </a:blip>
          <a:stretch>
            <a:fillRect/>
          </a:stretch>
        </p:blipFill>
        <p:spPr bwMode="auto">
          <a:xfrm>
            <a:off x="137161" y="2857500"/>
            <a:ext cx="406400" cy="406400"/>
          </a:xfrm>
          <a:prstGeom prst="rect">
            <a:avLst/>
          </a:prstGeom>
        </p:spPr>
      </p:pic>
      <p:sp>
        <p:nvSpPr>
          <p:cNvPr id="1310613936" name="New shape"/>
          <p:cNvSpPr/>
          <p:nvPr/>
        </p:nvSpPr>
        <p:spPr bwMode="auto">
          <a:xfrm>
            <a:off x="575311" y="2603500"/>
            <a:ext cx="3390900" cy="4000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lang="en-US" sz="1600" b="1" i="0" u="none" dirty="0">
                <a:solidFill>
                  <a:schemeClr val="dk2"/>
                </a:solidFill>
                <a:latin typeface="+mn-lt"/>
              </a:rPr>
              <a:t>The busiest route is Chicago–Detroit, followed by Washington–New York and Washington–Atlanta.</a:t>
            </a:r>
          </a:p>
          <a:p>
            <a:pPr marL="0" marR="0" indent="0" algn="l">
              <a:lnSpc>
                <a:spcPct val="100000"/>
              </a:lnSpc>
              <a:spcBef>
                <a:spcPct val="0"/>
              </a:spcBef>
              <a:spcAft>
                <a:spcPct val="0"/>
              </a:spcAft>
              <a:buNone/>
              <a:defRPr/>
            </a:pPr>
            <a:endParaRPr lang="en-US" sz="1600" b="1" i="0" u="none" dirty="0">
              <a:solidFill>
                <a:schemeClr val="dk2"/>
              </a:solidFill>
              <a:latin typeface="+mn-lt"/>
            </a:endParaRPr>
          </a:p>
          <a:p>
            <a:pPr marR="0" algn="l">
              <a:lnSpc>
                <a:spcPct val="100000"/>
              </a:lnSpc>
              <a:spcBef>
                <a:spcPct val="0"/>
              </a:spcBef>
              <a:spcAft>
                <a:spcPct val="0"/>
              </a:spcAft>
              <a:defRPr/>
            </a:pPr>
            <a:r>
              <a:rPr lang="en-US" sz="1600" b="1" i="0" u="none" dirty="0">
                <a:solidFill>
                  <a:schemeClr val="dk2"/>
                </a:solidFill>
                <a:latin typeface="+mn-lt"/>
              </a:rPr>
              <a:t>Notice that Atlanta appears in 5 of the top 10 routes, confirming its role as a major hub.</a:t>
            </a:r>
          </a:p>
          <a:p>
            <a:pPr marL="285750" marR="0" indent="-285750" algn="l">
              <a:lnSpc>
                <a:spcPct val="100000"/>
              </a:lnSpc>
              <a:spcBef>
                <a:spcPct val="0"/>
              </a:spcBef>
              <a:spcAft>
                <a:spcPct val="0"/>
              </a:spcAft>
              <a:buFontTx/>
              <a:buChar char="-"/>
              <a:defRPr/>
            </a:pPr>
            <a:endParaRPr lang="en-US" sz="1600" b="1" i="0" u="none" dirty="0">
              <a:solidFill>
                <a:schemeClr val="dk2"/>
              </a:solidFill>
              <a:latin typeface="+mn-lt"/>
            </a:endParaRPr>
          </a:p>
          <a:p>
            <a:pPr marL="0" marR="0" indent="0" algn="l">
              <a:lnSpc>
                <a:spcPct val="100000"/>
              </a:lnSpc>
              <a:spcBef>
                <a:spcPct val="0"/>
              </a:spcBef>
              <a:spcAft>
                <a:spcPct val="0"/>
              </a:spcAft>
              <a:buNone/>
              <a:defRPr/>
            </a:pPr>
            <a:r>
              <a:rPr lang="en-US" sz="1600" b="1" i="0" u="none" dirty="0">
                <a:solidFill>
                  <a:schemeClr val="dk2"/>
                </a:solidFill>
                <a:latin typeface="+mn-lt"/>
              </a:rPr>
              <a:t>Some city pairs operate in both directions like Chicago-Detroit and Washington-New York indicating balanced demand and opportunities for round-trip pricing strategies.</a:t>
            </a:r>
          </a:p>
          <a:p>
            <a:pPr marL="0" marR="0" indent="0" algn="l">
              <a:lnSpc>
                <a:spcPct val="100000"/>
              </a:lnSpc>
              <a:spcBef>
                <a:spcPct val="0"/>
              </a:spcBef>
              <a:spcAft>
                <a:spcPct val="0"/>
              </a:spcAft>
              <a:buNone/>
              <a:defRPr/>
            </a:pPr>
            <a:r>
              <a:rPr lang="en-US" sz="1600" b="1" dirty="0">
                <a:solidFill>
                  <a:schemeClr val="dk2"/>
                </a:solidFill>
                <a:latin typeface="+mn-lt"/>
              </a:rPr>
              <a:t> </a:t>
            </a:r>
          </a:p>
          <a:p>
            <a:pPr marL="0" marR="0" indent="0" algn="l">
              <a:lnSpc>
                <a:spcPct val="100000"/>
              </a:lnSpc>
              <a:spcBef>
                <a:spcPct val="0"/>
              </a:spcBef>
              <a:spcAft>
                <a:spcPct val="0"/>
              </a:spcAft>
              <a:buNone/>
              <a:defRPr/>
            </a:pPr>
            <a:r>
              <a:rPr lang="en-US" sz="1600" b="1" i="0" u="none" dirty="0">
                <a:solidFill>
                  <a:schemeClr val="dk2"/>
                </a:solidFill>
                <a:latin typeface="+mn-lt"/>
              </a:rPr>
              <a:t>Beyond the top 10, there are growth opportunities in emerging city routes.</a:t>
            </a:r>
            <a:endParaRPr sz="1200" dirty="0"/>
          </a:p>
        </p:txBody>
      </p:sp>
      <p:pic>
        <p:nvPicPr>
          <p:cNvPr id="93279254" name="New picture"/>
          <p:cNvPicPr/>
          <p:nvPr/>
        </p:nvPicPr>
        <p:blipFill>
          <a:blip r:embed="rId5">
            <a:extLst>
              <a:ext uri="{96DAC541-7B7A-43D3-8B79-37D633B846F1}">
                <asvg:svgBlip xmlns:asvg="http://schemas.microsoft.com/office/drawing/2016/SVG/main" r:embed="rId6"/>
              </a:ext>
            </a:extLst>
          </a:blip>
          <a:stretch>
            <a:fillRect/>
          </a:stretch>
        </p:blipFill>
        <p:spPr bwMode="auto">
          <a:xfrm>
            <a:off x="137161" y="4800600"/>
            <a:ext cx="406400" cy="406400"/>
          </a:xfrm>
          <a:prstGeom prst="rect">
            <a:avLst/>
          </a:prstGeom>
        </p:spPr>
      </p:pic>
      <p:sp>
        <p:nvSpPr>
          <p:cNvPr id="1600167573" name="New shape"/>
          <p:cNvSpPr/>
          <p:nvPr/>
        </p:nvSpPr>
        <p:spPr bwMode="auto">
          <a:xfrm flipH="1">
            <a:off x="3877310" y="2159000"/>
            <a:ext cx="0" cy="4445000"/>
          </a:xfrm>
          <a:prstGeom prst="straightConnector1">
            <a:avLst/>
          </a:prstGeom>
          <a:noFill/>
          <a:ln w="12700" cmpd="sng">
            <a:solidFill>
              <a:schemeClr val="accent5">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a:defRPr sz="1800">
                <a:solidFill>
                  <a:srgbClr val="042440"/>
                </a:solidFill>
                <a:latin typeface="Calibri"/>
                <a:ea typeface="+mn-ea"/>
                <a:cs typeface="+mn-cs"/>
              </a:defRPr>
            </a:lvl1pPr>
            <a:lvl2pPr marL="457200" algn="l" defTabSz="914400" rtl="0">
              <a:defRPr sz="1800">
                <a:solidFill>
                  <a:srgbClr val="042440"/>
                </a:solidFill>
                <a:latin typeface="Calibri"/>
                <a:ea typeface="+mn-ea"/>
                <a:cs typeface="+mn-cs"/>
              </a:defRPr>
            </a:lvl2pPr>
            <a:lvl3pPr marL="914400" algn="l" defTabSz="914400" rtl="0">
              <a:defRPr sz="1800">
                <a:solidFill>
                  <a:srgbClr val="042440"/>
                </a:solidFill>
                <a:latin typeface="Calibri"/>
                <a:ea typeface="+mn-ea"/>
                <a:cs typeface="+mn-cs"/>
              </a:defRPr>
            </a:lvl3pPr>
            <a:lvl4pPr marL="1371600" algn="l" defTabSz="914400" rtl="0">
              <a:defRPr sz="1800">
                <a:solidFill>
                  <a:srgbClr val="042440"/>
                </a:solidFill>
                <a:latin typeface="Calibri"/>
                <a:ea typeface="+mn-ea"/>
                <a:cs typeface="+mn-cs"/>
              </a:defRPr>
            </a:lvl4pPr>
            <a:lvl5pPr marL="1828800" algn="l" defTabSz="914400" rtl="0">
              <a:defRPr sz="1800">
                <a:solidFill>
                  <a:srgbClr val="042440"/>
                </a:solidFill>
                <a:latin typeface="Calibri"/>
                <a:ea typeface="+mn-ea"/>
                <a:cs typeface="+mn-cs"/>
              </a:defRPr>
            </a:lvl5pPr>
            <a:lvl6pPr marL="2286000" algn="l" defTabSz="914400" rtl="0">
              <a:defRPr sz="1800">
                <a:solidFill>
                  <a:srgbClr val="042440"/>
                </a:solidFill>
                <a:latin typeface="Calibri"/>
                <a:ea typeface="+mn-ea"/>
                <a:cs typeface="+mn-cs"/>
              </a:defRPr>
            </a:lvl6pPr>
            <a:lvl7pPr marL="2743200" algn="l" defTabSz="914400" rtl="0">
              <a:defRPr sz="1800">
                <a:solidFill>
                  <a:srgbClr val="042440"/>
                </a:solidFill>
                <a:latin typeface="Calibri"/>
                <a:ea typeface="+mn-ea"/>
                <a:cs typeface="+mn-cs"/>
              </a:defRPr>
            </a:lvl7pPr>
            <a:lvl8pPr marL="3200400" algn="l" defTabSz="914400" rtl="0">
              <a:defRPr sz="1800">
                <a:solidFill>
                  <a:srgbClr val="042440"/>
                </a:solidFill>
                <a:latin typeface="Calibri"/>
                <a:ea typeface="+mn-ea"/>
                <a:cs typeface="+mn-cs"/>
              </a:defRPr>
            </a:lvl8pPr>
            <a:lvl9pPr marL="3657600" algn="l" defTabSz="914400" rtl="0">
              <a:defRPr sz="1800">
                <a:solidFill>
                  <a:srgbClr val="042440"/>
                </a:solidFill>
                <a:latin typeface="Calibri"/>
                <a:ea typeface="+mn-ea"/>
                <a:cs typeface="+mn-cs"/>
              </a:defRPr>
            </a:lvl9pPr>
          </a:lstStyle>
          <a:p>
            <a:pPr algn="ctr">
              <a:defRPr/>
            </a:pPr>
            <a:endParaRPr/>
          </a:p>
        </p:txBody>
      </p:sp>
      <p:sp>
        <p:nvSpPr>
          <p:cNvPr id="71588738" name="Rectangle 71588737"/>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SLIDELY_ONLY_OFFICE_SLIDE_ID_180399599</a:t>
            </a:r>
            <a:endParaRPr/>
          </a:p>
        </p:txBody>
      </p:sp>
      <p:pic>
        <p:nvPicPr>
          <p:cNvPr id="3" name="Picture 2">
            <a:extLst>
              <a:ext uri="{FF2B5EF4-FFF2-40B4-BE49-F238E27FC236}">
                <a16:creationId xmlns:a16="http://schemas.microsoft.com/office/drawing/2014/main" id="{46467B21-4FC2-4C8A-81D9-2714585165EB}"/>
              </a:ext>
            </a:extLst>
          </p:cNvPr>
          <p:cNvPicPr>
            <a:picLocks noChangeAspect="1"/>
          </p:cNvPicPr>
          <p:nvPr/>
        </p:nvPicPr>
        <p:blipFill>
          <a:blip r:embed="rId7"/>
          <a:stretch>
            <a:fillRect/>
          </a:stretch>
        </p:blipFill>
        <p:spPr>
          <a:xfrm>
            <a:off x="3997961" y="2362200"/>
            <a:ext cx="7965438" cy="4241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1553868" name="Google Shape;21;p4"/>
          <p:cNvSpPr txBox="1">
            <a:spLocks noGrp="1"/>
          </p:cNvSpPr>
          <p:nvPr>
            <p:ph type="title" hasCustomPrompt="1"/>
          </p:nvPr>
        </p:nvSpPr>
        <p:spPr bwMode="auto">
          <a:xfrm>
            <a:off x="575310" y="130810"/>
            <a:ext cx="11040110" cy="1041400"/>
          </a:xfrm>
          <a:prstGeom prst="rect">
            <a:avLst/>
          </a:prstGeom>
          <a:noFill/>
          <a:ln w="0">
            <a:noFill/>
          </a:ln>
        </p:spPr>
        <p:txBody>
          <a:bodyPr spcFirstLastPara="1" wrap="square" lIns="0" tIns="63500" rIns="0" bIns="0" anchor="t" anchorCtr="0">
            <a:noAutofit/>
          </a:bodyPr>
          <a:lstStyle>
            <a:lvl1pPr lvl="0">
              <a:spcBef>
                <a:spcPct val="0"/>
              </a:spcBef>
              <a:spcAft>
                <a:spcPct val="0"/>
              </a:spcAft>
              <a:buSzPts val="3200"/>
              <a:buNone/>
              <a:defRPr sz="3200" b="0">
                <a:solidFill>
                  <a:schemeClr val="bg1"/>
                </a:solidFill>
                <a:latin typeface="+mj-lt"/>
                <a:ea typeface="Calibri"/>
                <a:cs typeface="Calibri"/>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pPr>
              <a:defRPr/>
            </a:pPr>
            <a:r>
              <a:rPr sz="2600" b="1" i="0" u="none">
                <a:solidFill>
                  <a:schemeClr val="lt1"/>
                </a:solidFill>
                <a:latin typeface="+mj-lt"/>
              </a:rPr>
              <a:t>Demand is heavily skewed towards short-haul flights under 500 miles</a:t>
            </a:r>
            <a:endParaRPr/>
          </a:p>
        </p:txBody>
      </p:sp>
      <p:sp>
        <p:nvSpPr>
          <p:cNvPr id="1868761898" name="New shape"/>
          <p:cNvSpPr/>
          <p:nvPr/>
        </p:nvSpPr>
        <p:spPr bwMode="auto">
          <a:xfrm>
            <a:off x="575310" y="825500"/>
            <a:ext cx="11040110" cy="381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1600" b="0" i="0" u="none">
                <a:solidFill>
                  <a:schemeClr val="lt1"/>
                </a:solidFill>
                <a:latin typeface="+mn-lt"/>
              </a:rPr>
              <a:t>Travel patterns show a clear preference for shorter journeys, with a steep drop-off in flight volume for longer distances.</a:t>
            </a:r>
            <a:endParaRPr/>
          </a:p>
        </p:txBody>
      </p:sp>
      <p:sp>
        <p:nvSpPr>
          <p:cNvPr id="1043763752" name="New shape"/>
          <p:cNvSpPr/>
          <p:nvPr/>
        </p:nvSpPr>
        <p:spPr bwMode="auto">
          <a:xfrm>
            <a:off x="635000" y="1714500"/>
            <a:ext cx="4826000" cy="444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000" b="1" i="0" u="none" dirty="0">
                <a:solidFill>
                  <a:schemeClr val="lt2"/>
                </a:solidFill>
                <a:latin typeface="+mj-lt"/>
              </a:rPr>
              <a:t>Key Observations</a:t>
            </a:r>
            <a:endParaRPr dirty="0"/>
          </a:p>
        </p:txBody>
      </p:sp>
      <p:sp>
        <p:nvSpPr>
          <p:cNvPr id="412894410" name="New shape"/>
          <p:cNvSpPr/>
          <p:nvPr/>
        </p:nvSpPr>
        <p:spPr bwMode="auto">
          <a:xfrm>
            <a:off x="635000" y="2349500"/>
            <a:ext cx="4826000" cy="3810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63500" marR="0" algn="l">
              <a:lnSpc>
                <a:spcPct val="100000"/>
              </a:lnSpc>
              <a:spcBef>
                <a:spcPct val="0"/>
              </a:spcBef>
              <a:spcAft>
                <a:spcPct val="0"/>
              </a:spcAft>
              <a:buClr>
                <a:schemeClr val="lt2"/>
              </a:buClr>
              <a:buSzTx/>
              <a:defRPr/>
            </a:pPr>
            <a:r>
              <a:rPr lang="en-US" sz="1800" b="1" i="0" u="none" dirty="0">
                <a:solidFill>
                  <a:schemeClr val="dk2"/>
                </a:solidFill>
                <a:latin typeface="+mn-lt"/>
              </a:rPr>
              <a:t>Dominant Segment: </a:t>
            </a:r>
            <a:r>
              <a:rPr lang="en-US" sz="1800" b="0" i="0" u="none" dirty="0">
                <a:solidFill>
                  <a:schemeClr val="dk2"/>
                </a:solidFill>
                <a:latin typeface="+mn-lt"/>
              </a:rPr>
              <a:t>Short-haul flights (</a:t>
            </a:r>
            <a:r>
              <a:rPr lang="en-US" sz="1800" b="1" i="0" u="none" dirty="0">
                <a:solidFill>
                  <a:schemeClr val="dk2"/>
                </a:solidFill>
                <a:latin typeface="+mn-lt"/>
              </a:rPr>
              <a:t>&lt; 500 miles</a:t>
            </a:r>
            <a:r>
              <a:rPr lang="en-US" sz="1800" b="0" i="0" u="none" dirty="0">
                <a:solidFill>
                  <a:schemeClr val="dk2"/>
                </a:solidFill>
                <a:latin typeface="+mn-lt"/>
              </a:rPr>
              <a:t>) are by far the most common, accounting for over </a:t>
            </a:r>
            <a:r>
              <a:rPr lang="en-US" sz="1800" b="1" i="0" u="none" dirty="0">
                <a:solidFill>
                  <a:schemeClr val="dk2"/>
                </a:solidFill>
                <a:latin typeface="+mn-lt"/>
              </a:rPr>
              <a:t>5</a:t>
            </a:r>
            <a:r>
              <a:rPr lang="en-US" b="1" dirty="0">
                <a:solidFill>
                  <a:schemeClr val="dk2"/>
                </a:solidFill>
                <a:latin typeface="+mn-lt"/>
              </a:rPr>
              <a:t>8</a:t>
            </a:r>
            <a:r>
              <a:rPr lang="en-US" sz="1800" b="1" i="0" u="none" dirty="0">
                <a:solidFill>
                  <a:schemeClr val="dk2"/>
                </a:solidFill>
                <a:latin typeface="+mn-lt"/>
              </a:rPr>
              <a:t>,000</a:t>
            </a:r>
            <a:r>
              <a:rPr lang="en-US" sz="1800" b="0" i="0" u="none" dirty="0">
                <a:solidFill>
                  <a:schemeClr val="dk2"/>
                </a:solidFill>
                <a:latin typeface="+mn-lt"/>
              </a:rPr>
              <a:t> flights.</a:t>
            </a:r>
            <a:endParaRPr lang="en-US" dirty="0"/>
          </a:p>
          <a:p>
            <a:pPr marL="63500" marR="0" algn="l">
              <a:lnSpc>
                <a:spcPct val="100000"/>
              </a:lnSpc>
              <a:spcBef>
                <a:spcPct val="0"/>
              </a:spcBef>
              <a:spcAft>
                <a:spcPct val="0"/>
              </a:spcAft>
              <a:buClr>
                <a:schemeClr val="lt2"/>
              </a:buClr>
              <a:buSzTx/>
              <a:defRPr/>
            </a:pPr>
            <a:endParaRPr lang="en-US" sz="1800" b="1" i="0" u="none" dirty="0">
              <a:solidFill>
                <a:schemeClr val="dk2"/>
              </a:solidFill>
              <a:latin typeface="+mn-lt"/>
            </a:endParaRPr>
          </a:p>
          <a:p>
            <a:pPr marL="63500" marR="0" algn="l">
              <a:lnSpc>
                <a:spcPct val="100000"/>
              </a:lnSpc>
              <a:spcBef>
                <a:spcPct val="0"/>
              </a:spcBef>
              <a:spcAft>
                <a:spcPct val="0"/>
              </a:spcAft>
              <a:buClr>
                <a:schemeClr val="lt2"/>
              </a:buClr>
              <a:buSzTx/>
              <a:defRPr/>
            </a:pPr>
            <a:r>
              <a:rPr lang="en-US" sz="1800" b="1" i="0" u="none" dirty="0">
                <a:solidFill>
                  <a:schemeClr val="dk2"/>
                </a:solidFill>
                <a:latin typeface="+mn-lt"/>
              </a:rPr>
              <a:t>Sharp Decline: </a:t>
            </a:r>
            <a:r>
              <a:rPr lang="en-US" sz="1800" b="0" i="0" u="none" dirty="0">
                <a:solidFill>
                  <a:schemeClr val="dk2"/>
                </a:solidFill>
                <a:latin typeface="+mn-lt"/>
              </a:rPr>
              <a:t>Flight volume drops sharply for distances over 1,000 miles, suggesting that factors like cost, time, or competition from other transport modes become significant deterrents.</a:t>
            </a:r>
            <a:endParaRPr lang="en-US" dirty="0"/>
          </a:p>
        </p:txBody>
      </p:sp>
      <p:sp>
        <p:nvSpPr>
          <p:cNvPr id="1405269810" name="Rectangle 1405269809"/>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SLIDELY_ONLY_OFFICE_SLIDE_ID_160028510</a:t>
            </a:r>
            <a:endParaRPr/>
          </a:p>
        </p:txBody>
      </p:sp>
      <p:pic>
        <p:nvPicPr>
          <p:cNvPr id="3" name="Picture 2">
            <a:extLst>
              <a:ext uri="{FF2B5EF4-FFF2-40B4-BE49-F238E27FC236}">
                <a16:creationId xmlns:a16="http://schemas.microsoft.com/office/drawing/2014/main" id="{CD09CD3C-D294-48CA-ADDC-D8EE1BD546A3}"/>
              </a:ext>
            </a:extLst>
          </p:cNvPr>
          <p:cNvPicPr>
            <a:picLocks noChangeAspect="1"/>
          </p:cNvPicPr>
          <p:nvPr/>
        </p:nvPicPr>
        <p:blipFill>
          <a:blip r:embed="rId3"/>
          <a:stretch>
            <a:fillRect/>
          </a:stretch>
        </p:blipFill>
        <p:spPr>
          <a:xfrm>
            <a:off x="5562600" y="1714500"/>
            <a:ext cx="5994400" cy="4610100"/>
          </a:xfrm>
          <a:prstGeom prst="rect">
            <a:avLst/>
          </a:prstGeom>
        </p:spPr>
      </p:pic>
      <p:sp>
        <p:nvSpPr>
          <p:cNvPr id="13" name="TextBox 12">
            <a:extLst>
              <a:ext uri="{FF2B5EF4-FFF2-40B4-BE49-F238E27FC236}">
                <a16:creationId xmlns:a16="http://schemas.microsoft.com/office/drawing/2014/main" id="{668BA684-173A-469B-8880-E0E2FD1DDFC4}"/>
              </a:ext>
            </a:extLst>
          </p:cNvPr>
          <p:cNvSpPr txBox="1"/>
          <p:nvPr/>
        </p:nvSpPr>
        <p:spPr>
          <a:xfrm>
            <a:off x="181429" y="2349500"/>
            <a:ext cx="420914" cy="369332"/>
          </a:xfrm>
          <a:prstGeom prst="rect">
            <a:avLst/>
          </a:prstGeom>
          <a:noFill/>
        </p:spPr>
        <p:txBody>
          <a:bodyPr wrap="square">
            <a:spAutoFit/>
          </a:bodyPr>
          <a:lstStyle/>
          <a:p>
            <a:r>
              <a:rPr lang="en-IN" dirty="0"/>
              <a:t>📍</a:t>
            </a:r>
          </a:p>
        </p:txBody>
      </p:sp>
      <p:sp>
        <p:nvSpPr>
          <p:cNvPr id="15" name="TextBox 14">
            <a:extLst>
              <a:ext uri="{FF2B5EF4-FFF2-40B4-BE49-F238E27FC236}">
                <a16:creationId xmlns:a16="http://schemas.microsoft.com/office/drawing/2014/main" id="{EE270577-78E2-469A-9DBC-EBD6BE0DAA77}"/>
              </a:ext>
            </a:extLst>
          </p:cNvPr>
          <p:cNvSpPr txBox="1"/>
          <p:nvPr/>
        </p:nvSpPr>
        <p:spPr>
          <a:xfrm>
            <a:off x="214086" y="3465286"/>
            <a:ext cx="420914" cy="369332"/>
          </a:xfrm>
          <a:prstGeom prst="rect">
            <a:avLst/>
          </a:prstGeom>
          <a:noFill/>
        </p:spPr>
        <p:txBody>
          <a:bodyPr wrap="square">
            <a:spAutoFit/>
          </a:bodyPr>
          <a:lstStyle/>
          <a:p>
            <a:r>
              <a:rPr lang="en-IN"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992328" name="Rectangle 1003992327"/>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SLIDELY_ONLY_OFFICE_SLIDE_ID_179385778</a:t>
            </a:r>
            <a:endParaRPr/>
          </a:p>
        </p:txBody>
      </p:sp>
      <p:pic>
        <p:nvPicPr>
          <p:cNvPr id="4" name="Picture 3">
            <a:extLst>
              <a:ext uri="{FF2B5EF4-FFF2-40B4-BE49-F238E27FC236}">
                <a16:creationId xmlns:a16="http://schemas.microsoft.com/office/drawing/2014/main" id="{BCFEA55F-84F8-4E76-AB12-AF0178E3F572}"/>
              </a:ext>
            </a:extLst>
          </p:cNvPr>
          <p:cNvPicPr>
            <a:picLocks noChangeAspect="1"/>
          </p:cNvPicPr>
          <p:nvPr/>
        </p:nvPicPr>
        <p:blipFill>
          <a:blip r:embed="rId3"/>
          <a:stretch>
            <a:fillRect/>
          </a:stretch>
        </p:blipFill>
        <p:spPr>
          <a:xfrm>
            <a:off x="123371" y="61686"/>
            <a:ext cx="11916229" cy="6248400"/>
          </a:xfrm>
          <a:prstGeom prst="rect">
            <a:avLst/>
          </a:prstGeom>
          <a:effectLst>
            <a:outerShdw blurRad="50800" dist="50800" dir="5400000" algn="ctr" rotWithShape="0">
              <a:srgbClr val="000000">
                <a:alpha val="1000"/>
              </a:srgbClr>
            </a:outerShdw>
            <a:reflection blurRad="50800" stA="50000" endA="300" endPos="55500" dist="139700" dir="5400000" sy="-100000" algn="bl" rotWithShape="0"/>
            <a:softEdge rad="63500"/>
          </a:effectLst>
        </p:spPr>
      </p:pic>
      <p:sp>
        <p:nvSpPr>
          <p:cNvPr id="7" name="Text Placeholder 5">
            <a:extLst>
              <a:ext uri="{FF2B5EF4-FFF2-40B4-BE49-F238E27FC236}">
                <a16:creationId xmlns:a16="http://schemas.microsoft.com/office/drawing/2014/main" id="{FC1B88DF-9367-46D7-8EDF-6FF9EF4D5731}"/>
              </a:ext>
            </a:extLst>
          </p:cNvPr>
          <p:cNvSpPr>
            <a:spLocks noGrp="1"/>
          </p:cNvSpPr>
          <p:nvPr>
            <p:ph type="body" sz="quarter" idx="11" hasCustomPrompt="1"/>
          </p:nvPr>
        </p:nvSpPr>
        <p:spPr bwMode="auto">
          <a:xfrm>
            <a:off x="2286000" y="990600"/>
            <a:ext cx="7924800" cy="1016000"/>
          </a:xfrm>
          <a:prstGeom prst="rect">
            <a:avLst/>
          </a:prstGeom>
          <a:noFill/>
          <a:ln w="0">
            <a:noFill/>
          </a:ln>
        </p:spPr>
        <p:txBody>
          <a:bodyPr wrap="none"/>
          <a:lstStyle>
            <a:lvl1pPr algn="ctr">
              <a:defRPr sz="6000">
                <a:latin typeface="+mj-lt"/>
              </a:defRPr>
            </a:lvl1pPr>
          </a:lstStyle>
          <a:p>
            <a:pPr lvl="0">
              <a:defRPr/>
            </a:pPr>
            <a:r>
              <a:rPr lang="en-US" dirty="0"/>
              <a:t>DASHBOARD SNAPSHOT</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D6D6822-EDEE-41AE-9C2D-7DEE23A60F94}"/>
              </a:ext>
            </a:extLst>
          </p:cNvPr>
          <p:cNvPicPr>
            <a:picLocks noChangeAspect="1"/>
          </p:cNvPicPr>
          <p:nvPr/>
        </p:nvPicPr>
        <p:blipFill>
          <a:blip r:embed="rId2"/>
          <a:stretch>
            <a:fillRect/>
          </a:stretch>
        </p:blipFill>
        <p:spPr>
          <a:xfrm>
            <a:off x="704097" y="833074"/>
            <a:ext cx="11259303" cy="5720125"/>
          </a:xfrm>
          <a:prstGeom prst="rect">
            <a:avLst/>
          </a:prstGeom>
        </p:spPr>
      </p:pic>
      <p:sp>
        <p:nvSpPr>
          <p:cNvPr id="5" name="Text Placeholder 5">
            <a:extLst>
              <a:ext uri="{FF2B5EF4-FFF2-40B4-BE49-F238E27FC236}">
                <a16:creationId xmlns:a16="http://schemas.microsoft.com/office/drawing/2014/main" id="{5EDC0EC6-958A-4184-BCA9-E81C10DF6ECA}"/>
              </a:ext>
            </a:extLst>
          </p:cNvPr>
          <p:cNvSpPr>
            <a:spLocks noGrp="1"/>
          </p:cNvSpPr>
          <p:nvPr>
            <p:ph type="body" sz="quarter" idx="11" hasCustomPrompt="1"/>
          </p:nvPr>
        </p:nvSpPr>
        <p:spPr bwMode="auto">
          <a:xfrm>
            <a:off x="2133600" y="0"/>
            <a:ext cx="7924800" cy="833074"/>
          </a:xfrm>
          <a:prstGeom prst="rect">
            <a:avLst/>
          </a:prstGeom>
          <a:noFill/>
          <a:ln w="0">
            <a:noFill/>
          </a:ln>
        </p:spPr>
        <p:txBody>
          <a:bodyPr wrap="none"/>
          <a:lstStyle>
            <a:lvl1pPr algn="ctr">
              <a:defRPr sz="6000">
                <a:latin typeface="+mj-lt"/>
              </a:defRPr>
            </a:lvl1pPr>
          </a:lstStyle>
          <a:p>
            <a:pPr lvl="0">
              <a:defRPr/>
            </a:pPr>
            <a:r>
              <a:rPr lang="en-US" dirty="0"/>
              <a:t>EXCEL</a:t>
            </a:r>
            <a:endParaRPr dirty="0"/>
          </a:p>
        </p:txBody>
      </p:sp>
    </p:spTree>
    <p:extLst>
      <p:ext uri="{BB962C8B-B14F-4D97-AF65-F5344CB8AC3E}">
        <p14:creationId xmlns:p14="http://schemas.microsoft.com/office/powerpoint/2010/main" val="221834951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F22C5F-23C0-43C1-A477-C301ACFEA61E}"/>
              </a:ext>
            </a:extLst>
          </p:cNvPr>
          <p:cNvPicPr>
            <a:picLocks noChangeAspect="1"/>
          </p:cNvPicPr>
          <p:nvPr/>
        </p:nvPicPr>
        <p:blipFill>
          <a:blip r:embed="rId2"/>
          <a:stretch>
            <a:fillRect/>
          </a:stretch>
        </p:blipFill>
        <p:spPr>
          <a:xfrm>
            <a:off x="381000" y="833074"/>
            <a:ext cx="11353800" cy="5720126"/>
          </a:xfrm>
          <a:prstGeom prst="rect">
            <a:avLst/>
          </a:prstGeom>
        </p:spPr>
      </p:pic>
      <p:sp>
        <p:nvSpPr>
          <p:cNvPr id="5" name="Text Placeholder 5">
            <a:extLst>
              <a:ext uri="{FF2B5EF4-FFF2-40B4-BE49-F238E27FC236}">
                <a16:creationId xmlns:a16="http://schemas.microsoft.com/office/drawing/2014/main" id="{1D972982-15DC-4189-8416-D7B463341136}"/>
              </a:ext>
            </a:extLst>
          </p:cNvPr>
          <p:cNvSpPr>
            <a:spLocks noGrp="1"/>
          </p:cNvSpPr>
          <p:nvPr>
            <p:ph type="body" sz="quarter" idx="11" hasCustomPrompt="1"/>
          </p:nvPr>
        </p:nvSpPr>
        <p:spPr bwMode="auto">
          <a:xfrm>
            <a:off x="2133600" y="0"/>
            <a:ext cx="7924800" cy="833074"/>
          </a:xfrm>
          <a:prstGeom prst="rect">
            <a:avLst/>
          </a:prstGeom>
          <a:noFill/>
          <a:ln w="0">
            <a:noFill/>
          </a:ln>
        </p:spPr>
        <p:txBody>
          <a:bodyPr wrap="none"/>
          <a:lstStyle>
            <a:lvl1pPr algn="ctr">
              <a:defRPr sz="6000">
                <a:latin typeface="+mj-lt"/>
              </a:defRPr>
            </a:lvl1pPr>
          </a:lstStyle>
          <a:p>
            <a:pPr lvl="0">
              <a:defRPr/>
            </a:pPr>
            <a:r>
              <a:rPr lang="en-US" dirty="0"/>
              <a:t>POWER BI</a:t>
            </a:r>
            <a:endParaRPr dirty="0"/>
          </a:p>
        </p:txBody>
      </p:sp>
    </p:spTree>
    <p:extLst>
      <p:ext uri="{BB962C8B-B14F-4D97-AF65-F5344CB8AC3E}">
        <p14:creationId xmlns:p14="http://schemas.microsoft.com/office/powerpoint/2010/main" val="230060458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526CE8-5641-43B4-9705-69E4847103FF}"/>
              </a:ext>
            </a:extLst>
          </p:cNvPr>
          <p:cNvPicPr>
            <a:picLocks noChangeAspect="1"/>
          </p:cNvPicPr>
          <p:nvPr/>
        </p:nvPicPr>
        <p:blipFill>
          <a:blip r:embed="rId2"/>
          <a:stretch>
            <a:fillRect/>
          </a:stretch>
        </p:blipFill>
        <p:spPr>
          <a:xfrm>
            <a:off x="152400" y="1002526"/>
            <a:ext cx="11887200" cy="5626874"/>
          </a:xfrm>
          <a:prstGeom prst="rect">
            <a:avLst/>
          </a:prstGeom>
        </p:spPr>
      </p:pic>
      <p:sp>
        <p:nvSpPr>
          <p:cNvPr id="5" name="Text Placeholder 5">
            <a:extLst>
              <a:ext uri="{FF2B5EF4-FFF2-40B4-BE49-F238E27FC236}">
                <a16:creationId xmlns:a16="http://schemas.microsoft.com/office/drawing/2014/main" id="{DFE0BF49-855E-4234-A4E9-E69BDD603C40}"/>
              </a:ext>
            </a:extLst>
          </p:cNvPr>
          <p:cNvSpPr>
            <a:spLocks noGrp="1"/>
          </p:cNvSpPr>
          <p:nvPr>
            <p:ph type="body" sz="quarter" idx="11" hasCustomPrompt="1"/>
          </p:nvPr>
        </p:nvSpPr>
        <p:spPr bwMode="auto">
          <a:xfrm>
            <a:off x="2133600" y="0"/>
            <a:ext cx="7924800" cy="833074"/>
          </a:xfrm>
          <a:prstGeom prst="rect">
            <a:avLst/>
          </a:prstGeom>
          <a:noFill/>
          <a:ln w="0">
            <a:noFill/>
          </a:ln>
        </p:spPr>
        <p:txBody>
          <a:bodyPr wrap="none"/>
          <a:lstStyle>
            <a:lvl1pPr algn="ctr">
              <a:defRPr sz="6000">
                <a:latin typeface="+mj-lt"/>
              </a:defRPr>
            </a:lvl1pPr>
          </a:lstStyle>
          <a:p>
            <a:pPr lvl="0">
              <a:defRPr/>
            </a:pPr>
            <a:r>
              <a:rPr lang="en-US" dirty="0"/>
              <a:t>TABLEAU</a:t>
            </a:r>
            <a:endParaRPr dirty="0"/>
          </a:p>
        </p:txBody>
      </p:sp>
    </p:spTree>
    <p:extLst>
      <p:ext uri="{BB962C8B-B14F-4D97-AF65-F5344CB8AC3E}">
        <p14:creationId xmlns:p14="http://schemas.microsoft.com/office/powerpoint/2010/main" val="383788188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634F4D-D715-43B7-9937-9DA7FB975321}"/>
              </a:ext>
            </a:extLst>
          </p:cNvPr>
          <p:cNvSpPr>
            <a:spLocks noGrp="1"/>
          </p:cNvSpPr>
          <p:nvPr>
            <p:ph type="body" sz="quarter" idx="11"/>
          </p:nvPr>
        </p:nvSpPr>
        <p:spPr>
          <a:xfrm>
            <a:off x="1981200" y="381000"/>
            <a:ext cx="8586787" cy="990600"/>
          </a:xfrm>
        </p:spPr>
        <p:txBody>
          <a:bodyPr/>
          <a:lstStyle/>
          <a:p>
            <a:r>
              <a:rPr lang="en-US" dirty="0"/>
              <a:t>SQL QUERY OUTPUT</a:t>
            </a:r>
            <a:endParaRPr lang="en-IN" dirty="0"/>
          </a:p>
        </p:txBody>
      </p:sp>
    </p:spTree>
    <p:extLst>
      <p:ext uri="{BB962C8B-B14F-4D97-AF65-F5344CB8AC3E}">
        <p14:creationId xmlns:p14="http://schemas.microsoft.com/office/powerpoint/2010/main" val="34198141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30377797" name="Google Shape;21;p4"/>
          <p:cNvSpPr txBox="1">
            <a:spLocks noGrp="1"/>
          </p:cNvSpPr>
          <p:nvPr>
            <p:ph type="title" hasCustomPrompt="1"/>
          </p:nvPr>
        </p:nvSpPr>
        <p:spPr bwMode="auto">
          <a:xfrm>
            <a:off x="575734" y="131111"/>
            <a:ext cx="11040533" cy="1041197"/>
          </a:xfrm>
          <a:prstGeom prst="rect">
            <a:avLst/>
          </a:prstGeom>
          <a:noFill/>
          <a:ln w="0">
            <a:noFill/>
          </a:ln>
        </p:spPr>
        <p:txBody>
          <a:bodyPr spcFirstLastPara="1" wrap="square" lIns="0" tIns="0" rIns="0" bIns="0" anchor="ctr" anchorCtr="0">
            <a:noAutofit/>
          </a:bodyPr>
          <a:lstStyle>
            <a:lvl1pPr lvl="0">
              <a:spcBef>
                <a:spcPct val="0"/>
              </a:spcBef>
              <a:spcAft>
                <a:spcPct val="0"/>
              </a:spcAft>
              <a:buSzPts val="3200"/>
              <a:buNone/>
              <a:defRPr sz="3200" b="0">
                <a:solidFill>
                  <a:schemeClr val="bg1"/>
                </a:solidFill>
                <a:latin typeface="+mj-lt"/>
                <a:ea typeface="Calibri"/>
                <a:cs typeface="Calibri"/>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pPr>
              <a:defRPr/>
            </a:pPr>
            <a:r>
              <a:rPr b="0" i="0" u="none">
                <a:solidFill>
                  <a:schemeClr val="lt1"/>
                </a:solidFill>
                <a:latin typeface="+mj-lt"/>
              </a:rPr>
              <a:t>Synthesizing our analysis into key insights for strategic planning</a:t>
            </a:r>
            <a:endParaRPr/>
          </a:p>
        </p:txBody>
      </p:sp>
      <p:sp>
        <p:nvSpPr>
          <p:cNvPr id="2031020018" name="New shape"/>
          <p:cNvSpPr/>
          <p:nvPr/>
        </p:nvSpPr>
        <p:spPr bwMode="auto">
          <a:xfrm>
            <a:off x="575310" y="1460500"/>
            <a:ext cx="11040110" cy="5715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45720" rIns="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1600" b="0" i="0" u="none" dirty="0">
                <a:solidFill>
                  <a:schemeClr val="dk2"/>
                </a:solidFill>
                <a:latin typeface="+mn-lt"/>
              </a:rPr>
              <a:t>Our analysis of the 2008-2013 operational data reveals three core areas of opportunity that can inform future strategy and drive performance improvements.</a:t>
            </a:r>
            <a:endParaRPr dirty="0"/>
          </a:p>
        </p:txBody>
      </p:sp>
      <p:pic>
        <p:nvPicPr>
          <p:cNvPr id="1158547131" name="New picture"/>
          <p:cNvPicPr/>
          <p:nvPr/>
        </p:nvPicPr>
        <p:blipFill>
          <a:blip r:embed="rId3">
            <a:extLst>
              <a:ext uri="{96DAC541-7B7A-43D3-8B79-37D633B846F1}">
                <asvg:svgBlip xmlns:asvg="http://schemas.microsoft.com/office/drawing/2016/SVG/main" r:embed="rId4"/>
              </a:ext>
            </a:extLst>
          </a:blip>
          <a:stretch>
            <a:fillRect/>
          </a:stretch>
        </p:blipFill>
        <p:spPr bwMode="auto">
          <a:xfrm>
            <a:off x="1908810" y="2286000"/>
            <a:ext cx="762000" cy="762000"/>
          </a:xfrm>
          <a:prstGeom prst="rect">
            <a:avLst/>
          </a:prstGeom>
        </p:spPr>
      </p:pic>
      <p:sp>
        <p:nvSpPr>
          <p:cNvPr id="1611873963" name="New shape"/>
          <p:cNvSpPr/>
          <p:nvPr/>
        </p:nvSpPr>
        <p:spPr bwMode="auto">
          <a:xfrm>
            <a:off x="575310" y="3111500"/>
            <a:ext cx="3429000" cy="635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45720" rIns="0" bIns="45720" rtlCol="0" anchor="ctr"/>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ctr">
              <a:lnSpc>
                <a:spcPct val="100000"/>
              </a:lnSpc>
              <a:spcBef>
                <a:spcPct val="0"/>
              </a:spcBef>
              <a:spcAft>
                <a:spcPct val="0"/>
              </a:spcAft>
              <a:buNone/>
              <a:defRPr/>
            </a:pPr>
            <a:r>
              <a:rPr sz="2000" b="1" i="0" u="none">
                <a:solidFill>
                  <a:schemeClr val="lt2"/>
                </a:solidFill>
                <a:latin typeface="+mj-lt"/>
              </a:rPr>
              <a:t>1. Route &amp; Network Optimization</a:t>
            </a:r>
            <a:endParaRPr/>
          </a:p>
        </p:txBody>
      </p:sp>
      <p:sp>
        <p:nvSpPr>
          <p:cNvPr id="15155070" name="New shape"/>
          <p:cNvSpPr/>
          <p:nvPr/>
        </p:nvSpPr>
        <p:spPr bwMode="auto">
          <a:xfrm>
            <a:off x="575310" y="3810000"/>
            <a:ext cx="3429000" cy="2540000"/>
          </a:xfrm>
          <a:prstGeom prst="rect">
            <a:avLst/>
          </a:prstGeom>
          <a:solidFill>
            <a:schemeClr val="accent5">
              <a:lumMod val="20000"/>
              <a:lumOff val="8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190500" tIns="190500" rIns="190500" bIns="19050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285750" marR="0" indent="-285750" algn="l">
              <a:lnSpc>
                <a:spcPct val="100000"/>
              </a:lnSpc>
              <a:spcBef>
                <a:spcPct val="0"/>
              </a:spcBef>
              <a:spcAft>
                <a:spcPct val="0"/>
              </a:spcAft>
              <a:buClr>
                <a:schemeClr val="accent1"/>
              </a:buClr>
              <a:buSzTx/>
              <a:buFont typeface="Wingdings" panose="05000000000000000000" pitchFamily="2" charset="2"/>
              <a:buChar char="§"/>
              <a:defRPr/>
            </a:pPr>
            <a:r>
              <a:rPr sz="1800" b="1" i="0" u="none" dirty="0">
                <a:solidFill>
                  <a:schemeClr val="dk2"/>
                </a:solidFill>
                <a:latin typeface="+mn-lt"/>
              </a:rPr>
              <a:t>Insight: </a:t>
            </a:r>
            <a:r>
              <a:rPr sz="1800" b="0" i="0" u="none" dirty="0">
                <a:solidFill>
                  <a:schemeClr val="dk2"/>
                </a:solidFill>
                <a:latin typeface="+mn-lt"/>
              </a:rPr>
              <a:t>Top routes and flight distances reveal opportunities to optimize schedules.</a:t>
            </a:r>
            <a:endParaRPr dirty="0"/>
          </a:p>
          <a:p>
            <a:pPr marL="285750" marR="0" indent="-285750" algn="l">
              <a:lnSpc>
                <a:spcPct val="100000"/>
              </a:lnSpc>
              <a:spcBef>
                <a:spcPct val="0"/>
              </a:spcBef>
              <a:spcAft>
                <a:spcPct val="0"/>
              </a:spcAft>
              <a:buClr>
                <a:schemeClr val="accent1"/>
              </a:buClr>
              <a:buSzTx/>
              <a:buFont typeface="Wingdings" panose="05000000000000000000" pitchFamily="2" charset="2"/>
              <a:buChar char="§"/>
              <a:defRPr/>
            </a:pPr>
            <a:r>
              <a:rPr sz="1800" b="1" i="0" u="none" dirty="0">
                <a:solidFill>
                  <a:schemeClr val="dk2"/>
                </a:solidFill>
                <a:latin typeface="+mn-lt"/>
              </a:rPr>
              <a:t>Action: </a:t>
            </a:r>
            <a:r>
              <a:rPr sz="1800" b="0" i="0" u="none" dirty="0">
                <a:solidFill>
                  <a:schemeClr val="dk2"/>
                </a:solidFill>
                <a:latin typeface="+mn-lt"/>
              </a:rPr>
              <a:t>Focus resource allocation around core hubs and short-haul corridors.</a:t>
            </a:r>
            <a:endParaRPr dirty="0"/>
          </a:p>
        </p:txBody>
      </p:sp>
      <p:sp>
        <p:nvSpPr>
          <p:cNvPr id="1907741882" name="New shape"/>
          <p:cNvSpPr/>
          <p:nvPr/>
        </p:nvSpPr>
        <p:spPr bwMode="auto">
          <a:xfrm flipH="1">
            <a:off x="4191000" y="2222500"/>
            <a:ext cx="0" cy="4191000"/>
          </a:xfrm>
          <a:prstGeom prst="straightConnector1">
            <a:avLst/>
          </a:prstGeom>
          <a:noFill/>
          <a:ln w="19050" cmpd="sng">
            <a:solidFill>
              <a:schemeClr val="accent1">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a:defRPr sz="1800">
                <a:solidFill>
                  <a:srgbClr val="042440"/>
                </a:solidFill>
                <a:latin typeface="Calibri"/>
                <a:ea typeface="+mn-ea"/>
                <a:cs typeface="+mn-cs"/>
              </a:defRPr>
            </a:lvl1pPr>
            <a:lvl2pPr marL="457200" algn="l" defTabSz="914400" rtl="0">
              <a:defRPr sz="1800">
                <a:solidFill>
                  <a:srgbClr val="042440"/>
                </a:solidFill>
                <a:latin typeface="Calibri"/>
                <a:ea typeface="+mn-ea"/>
                <a:cs typeface="+mn-cs"/>
              </a:defRPr>
            </a:lvl2pPr>
            <a:lvl3pPr marL="914400" algn="l" defTabSz="914400" rtl="0">
              <a:defRPr sz="1800">
                <a:solidFill>
                  <a:srgbClr val="042440"/>
                </a:solidFill>
                <a:latin typeface="Calibri"/>
                <a:ea typeface="+mn-ea"/>
                <a:cs typeface="+mn-cs"/>
              </a:defRPr>
            </a:lvl3pPr>
            <a:lvl4pPr marL="1371600" algn="l" defTabSz="914400" rtl="0">
              <a:defRPr sz="1800">
                <a:solidFill>
                  <a:srgbClr val="042440"/>
                </a:solidFill>
                <a:latin typeface="Calibri"/>
                <a:ea typeface="+mn-ea"/>
                <a:cs typeface="+mn-cs"/>
              </a:defRPr>
            </a:lvl4pPr>
            <a:lvl5pPr marL="1828800" algn="l" defTabSz="914400" rtl="0">
              <a:defRPr sz="1800">
                <a:solidFill>
                  <a:srgbClr val="042440"/>
                </a:solidFill>
                <a:latin typeface="Calibri"/>
                <a:ea typeface="+mn-ea"/>
                <a:cs typeface="+mn-cs"/>
              </a:defRPr>
            </a:lvl5pPr>
            <a:lvl6pPr marL="2286000" algn="l" defTabSz="914400" rtl="0">
              <a:defRPr sz="1800">
                <a:solidFill>
                  <a:srgbClr val="042440"/>
                </a:solidFill>
                <a:latin typeface="Calibri"/>
                <a:ea typeface="+mn-ea"/>
                <a:cs typeface="+mn-cs"/>
              </a:defRPr>
            </a:lvl6pPr>
            <a:lvl7pPr marL="2743200" algn="l" defTabSz="914400" rtl="0">
              <a:defRPr sz="1800">
                <a:solidFill>
                  <a:srgbClr val="042440"/>
                </a:solidFill>
                <a:latin typeface="Calibri"/>
                <a:ea typeface="+mn-ea"/>
                <a:cs typeface="+mn-cs"/>
              </a:defRPr>
            </a:lvl7pPr>
            <a:lvl8pPr marL="3200400" algn="l" defTabSz="914400" rtl="0">
              <a:defRPr sz="1800">
                <a:solidFill>
                  <a:srgbClr val="042440"/>
                </a:solidFill>
                <a:latin typeface="Calibri"/>
                <a:ea typeface="+mn-ea"/>
                <a:cs typeface="+mn-cs"/>
              </a:defRPr>
            </a:lvl8pPr>
            <a:lvl9pPr marL="3657600" algn="l" defTabSz="914400" rtl="0">
              <a:defRPr sz="1800">
                <a:solidFill>
                  <a:srgbClr val="042440"/>
                </a:solidFill>
                <a:latin typeface="Calibri"/>
                <a:ea typeface="+mn-ea"/>
                <a:cs typeface="+mn-cs"/>
              </a:defRPr>
            </a:lvl9pPr>
          </a:lstStyle>
          <a:p>
            <a:pPr algn="ctr">
              <a:defRPr/>
            </a:pPr>
            <a:endParaRPr/>
          </a:p>
        </p:txBody>
      </p:sp>
      <p:pic>
        <p:nvPicPr>
          <p:cNvPr id="1796836880" name="New picture"/>
          <p:cNvPicPr/>
          <p:nvPr/>
        </p:nvPicPr>
        <p:blipFill>
          <a:blip r:embed="rId5">
            <a:extLst>
              <a:ext uri="{96DAC541-7B7A-43D3-8B79-37D633B846F1}">
                <asvg:svgBlip xmlns:asvg="http://schemas.microsoft.com/office/drawing/2016/SVG/main" r:embed="rId6"/>
              </a:ext>
            </a:extLst>
          </a:blip>
          <a:stretch>
            <a:fillRect/>
          </a:stretch>
        </p:blipFill>
        <p:spPr bwMode="auto">
          <a:xfrm>
            <a:off x="5715000" y="2286000"/>
            <a:ext cx="762000" cy="762000"/>
          </a:xfrm>
          <a:prstGeom prst="rect">
            <a:avLst/>
          </a:prstGeom>
        </p:spPr>
      </p:pic>
      <p:sp>
        <p:nvSpPr>
          <p:cNvPr id="1046345952" name="New shape"/>
          <p:cNvSpPr/>
          <p:nvPr/>
        </p:nvSpPr>
        <p:spPr bwMode="auto">
          <a:xfrm>
            <a:off x="4381500" y="3111500"/>
            <a:ext cx="3429000" cy="635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45720" rIns="0" bIns="45720" rtlCol="0" anchor="ctr"/>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ctr">
              <a:lnSpc>
                <a:spcPct val="100000"/>
              </a:lnSpc>
              <a:spcBef>
                <a:spcPct val="0"/>
              </a:spcBef>
              <a:spcAft>
                <a:spcPct val="0"/>
              </a:spcAft>
              <a:buNone/>
              <a:defRPr/>
            </a:pPr>
            <a:r>
              <a:rPr sz="2000" b="1" i="0" u="none">
                <a:solidFill>
                  <a:schemeClr val="lt2"/>
                </a:solidFill>
                <a:latin typeface="+mj-lt"/>
              </a:rPr>
              <a:t>2. Load Factor Enhancement</a:t>
            </a:r>
            <a:endParaRPr/>
          </a:p>
        </p:txBody>
      </p:sp>
      <p:sp>
        <p:nvSpPr>
          <p:cNvPr id="542947354" name="New shape"/>
          <p:cNvSpPr/>
          <p:nvPr/>
        </p:nvSpPr>
        <p:spPr bwMode="auto">
          <a:xfrm>
            <a:off x="4381500" y="3810000"/>
            <a:ext cx="3429000" cy="2540000"/>
          </a:xfrm>
          <a:prstGeom prst="rect">
            <a:avLst/>
          </a:prstGeom>
          <a:solidFill>
            <a:schemeClr val="accent5">
              <a:lumMod val="20000"/>
              <a:lumOff val="8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190500" tIns="190500" rIns="190500" bIns="19050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285750" marR="0" indent="-285750" algn="l">
              <a:lnSpc>
                <a:spcPct val="100000"/>
              </a:lnSpc>
              <a:spcBef>
                <a:spcPct val="0"/>
              </a:spcBef>
              <a:spcAft>
                <a:spcPct val="0"/>
              </a:spcAft>
              <a:buClr>
                <a:schemeClr val="accent1"/>
              </a:buClr>
              <a:buSzTx/>
              <a:buFont typeface="Wingdings" panose="05000000000000000000" pitchFamily="2" charset="2"/>
              <a:buChar char="§"/>
              <a:defRPr/>
            </a:pPr>
            <a:r>
              <a:rPr sz="1800" b="1" i="0" u="none" dirty="0">
                <a:solidFill>
                  <a:schemeClr val="dk2"/>
                </a:solidFill>
                <a:latin typeface="+mn-lt"/>
              </a:rPr>
              <a:t>Insight: </a:t>
            </a:r>
            <a:r>
              <a:rPr sz="1800" b="0" i="0" u="none" dirty="0">
                <a:solidFill>
                  <a:schemeClr val="dk2"/>
                </a:solidFill>
                <a:latin typeface="+mn-lt"/>
              </a:rPr>
              <a:t>Average load factors and competitor benchmarks highlight efficiency gaps.</a:t>
            </a:r>
            <a:endParaRPr dirty="0"/>
          </a:p>
          <a:p>
            <a:pPr marL="285750" marR="0" indent="-285750" algn="l">
              <a:lnSpc>
                <a:spcPct val="100000"/>
              </a:lnSpc>
              <a:spcBef>
                <a:spcPct val="0"/>
              </a:spcBef>
              <a:spcAft>
                <a:spcPct val="0"/>
              </a:spcAft>
              <a:buClr>
                <a:schemeClr val="accent1"/>
              </a:buClr>
              <a:buSzTx/>
              <a:buFont typeface="Wingdings" panose="05000000000000000000" pitchFamily="2" charset="2"/>
              <a:buChar char="§"/>
              <a:defRPr/>
            </a:pPr>
            <a:r>
              <a:rPr sz="1800" b="1" i="0" u="none" dirty="0">
                <a:solidFill>
                  <a:schemeClr val="dk2"/>
                </a:solidFill>
                <a:latin typeface="+mn-lt"/>
              </a:rPr>
              <a:t>Action: </a:t>
            </a:r>
            <a:r>
              <a:rPr sz="1800" b="0" i="0" u="none" dirty="0">
                <a:solidFill>
                  <a:schemeClr val="dk2"/>
                </a:solidFill>
                <a:latin typeface="+mn-lt"/>
              </a:rPr>
              <a:t>Implement targeted strategies for increased capacity utilization.</a:t>
            </a:r>
            <a:endParaRPr dirty="0"/>
          </a:p>
        </p:txBody>
      </p:sp>
      <p:sp>
        <p:nvSpPr>
          <p:cNvPr id="1032957060" name="New shape"/>
          <p:cNvSpPr/>
          <p:nvPr/>
        </p:nvSpPr>
        <p:spPr bwMode="auto">
          <a:xfrm flipH="1">
            <a:off x="8001000" y="2222500"/>
            <a:ext cx="0" cy="4191000"/>
          </a:xfrm>
          <a:prstGeom prst="straightConnector1">
            <a:avLst/>
          </a:prstGeom>
          <a:noFill/>
          <a:ln w="19050" cmpd="sng">
            <a:solidFill>
              <a:schemeClr val="accent1">
                <a:alpha val="100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a:defRPr sz="1800">
                <a:solidFill>
                  <a:srgbClr val="042440"/>
                </a:solidFill>
                <a:latin typeface="Calibri"/>
                <a:ea typeface="+mn-ea"/>
                <a:cs typeface="+mn-cs"/>
              </a:defRPr>
            </a:lvl1pPr>
            <a:lvl2pPr marL="457200" algn="l" defTabSz="914400" rtl="0">
              <a:defRPr sz="1800">
                <a:solidFill>
                  <a:srgbClr val="042440"/>
                </a:solidFill>
                <a:latin typeface="Calibri"/>
                <a:ea typeface="+mn-ea"/>
                <a:cs typeface="+mn-cs"/>
              </a:defRPr>
            </a:lvl2pPr>
            <a:lvl3pPr marL="914400" algn="l" defTabSz="914400" rtl="0">
              <a:defRPr sz="1800">
                <a:solidFill>
                  <a:srgbClr val="042440"/>
                </a:solidFill>
                <a:latin typeface="Calibri"/>
                <a:ea typeface="+mn-ea"/>
                <a:cs typeface="+mn-cs"/>
              </a:defRPr>
            </a:lvl3pPr>
            <a:lvl4pPr marL="1371600" algn="l" defTabSz="914400" rtl="0">
              <a:defRPr sz="1800">
                <a:solidFill>
                  <a:srgbClr val="042440"/>
                </a:solidFill>
                <a:latin typeface="Calibri"/>
                <a:ea typeface="+mn-ea"/>
                <a:cs typeface="+mn-cs"/>
              </a:defRPr>
            </a:lvl4pPr>
            <a:lvl5pPr marL="1828800" algn="l" defTabSz="914400" rtl="0">
              <a:defRPr sz="1800">
                <a:solidFill>
                  <a:srgbClr val="042440"/>
                </a:solidFill>
                <a:latin typeface="Calibri"/>
                <a:ea typeface="+mn-ea"/>
                <a:cs typeface="+mn-cs"/>
              </a:defRPr>
            </a:lvl5pPr>
            <a:lvl6pPr marL="2286000" algn="l" defTabSz="914400" rtl="0">
              <a:defRPr sz="1800">
                <a:solidFill>
                  <a:srgbClr val="042440"/>
                </a:solidFill>
                <a:latin typeface="Calibri"/>
                <a:ea typeface="+mn-ea"/>
                <a:cs typeface="+mn-cs"/>
              </a:defRPr>
            </a:lvl6pPr>
            <a:lvl7pPr marL="2743200" algn="l" defTabSz="914400" rtl="0">
              <a:defRPr sz="1800">
                <a:solidFill>
                  <a:srgbClr val="042440"/>
                </a:solidFill>
                <a:latin typeface="Calibri"/>
                <a:ea typeface="+mn-ea"/>
                <a:cs typeface="+mn-cs"/>
              </a:defRPr>
            </a:lvl7pPr>
            <a:lvl8pPr marL="3200400" algn="l" defTabSz="914400" rtl="0">
              <a:defRPr sz="1800">
                <a:solidFill>
                  <a:srgbClr val="042440"/>
                </a:solidFill>
                <a:latin typeface="Calibri"/>
                <a:ea typeface="+mn-ea"/>
                <a:cs typeface="+mn-cs"/>
              </a:defRPr>
            </a:lvl8pPr>
            <a:lvl9pPr marL="3657600" algn="l" defTabSz="914400" rtl="0">
              <a:defRPr sz="1800">
                <a:solidFill>
                  <a:srgbClr val="042440"/>
                </a:solidFill>
                <a:latin typeface="Calibri"/>
                <a:ea typeface="+mn-ea"/>
                <a:cs typeface="+mn-cs"/>
              </a:defRPr>
            </a:lvl9pPr>
          </a:lstStyle>
          <a:p>
            <a:pPr algn="ctr">
              <a:defRPr/>
            </a:pPr>
            <a:endParaRPr/>
          </a:p>
        </p:txBody>
      </p:sp>
      <p:pic>
        <p:nvPicPr>
          <p:cNvPr id="2005474145" name="New picture"/>
          <p:cNvPicPr/>
          <p:nvPr/>
        </p:nvPicPr>
        <p:blipFill>
          <a:blip r:embed="rId7">
            <a:extLst>
              <a:ext uri="{96DAC541-7B7A-43D3-8B79-37D633B846F1}">
                <asvg:svgBlip xmlns:asvg="http://schemas.microsoft.com/office/drawing/2016/SVG/main" r:embed="rId8"/>
              </a:ext>
            </a:extLst>
          </a:blip>
          <a:stretch>
            <a:fillRect/>
          </a:stretch>
        </p:blipFill>
        <p:spPr bwMode="auto">
          <a:xfrm>
            <a:off x="9525000" y="2286000"/>
            <a:ext cx="762000" cy="762000"/>
          </a:xfrm>
          <a:prstGeom prst="rect">
            <a:avLst/>
          </a:prstGeom>
        </p:spPr>
      </p:pic>
      <p:sp>
        <p:nvSpPr>
          <p:cNvPr id="1437937480" name="New shape"/>
          <p:cNvSpPr/>
          <p:nvPr/>
        </p:nvSpPr>
        <p:spPr bwMode="auto">
          <a:xfrm>
            <a:off x="8191500" y="3111500"/>
            <a:ext cx="3429000" cy="635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0" tIns="45720" rIns="0" bIns="45720" rtlCol="0" anchor="ctr"/>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ctr">
              <a:lnSpc>
                <a:spcPct val="100000"/>
              </a:lnSpc>
              <a:spcBef>
                <a:spcPct val="0"/>
              </a:spcBef>
              <a:spcAft>
                <a:spcPct val="0"/>
              </a:spcAft>
              <a:buNone/>
              <a:defRPr/>
            </a:pPr>
            <a:r>
              <a:rPr sz="2000" b="1" i="0" u="none">
                <a:solidFill>
                  <a:schemeClr val="lt2"/>
                </a:solidFill>
                <a:latin typeface="+mj-lt"/>
              </a:rPr>
              <a:t>3. Strategic Carrier Partnerships</a:t>
            </a:r>
            <a:endParaRPr/>
          </a:p>
        </p:txBody>
      </p:sp>
      <p:sp>
        <p:nvSpPr>
          <p:cNvPr id="128600497" name="New shape"/>
          <p:cNvSpPr/>
          <p:nvPr/>
        </p:nvSpPr>
        <p:spPr bwMode="auto">
          <a:xfrm>
            <a:off x="8191500" y="3810000"/>
            <a:ext cx="3429000" cy="2540000"/>
          </a:xfrm>
          <a:prstGeom prst="rect">
            <a:avLst/>
          </a:prstGeom>
          <a:solidFill>
            <a:schemeClr val="accent5">
              <a:lumMod val="20000"/>
              <a:lumOff val="80000"/>
              <a:alpha val="10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190500" tIns="190500" rIns="190500" bIns="19050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285750" marR="0" indent="-285750" algn="l">
              <a:lnSpc>
                <a:spcPct val="100000"/>
              </a:lnSpc>
              <a:spcBef>
                <a:spcPct val="0"/>
              </a:spcBef>
              <a:spcAft>
                <a:spcPct val="0"/>
              </a:spcAft>
              <a:buClr>
                <a:schemeClr val="accent1"/>
              </a:buClr>
              <a:buSzTx/>
              <a:buFont typeface="Wingdings" panose="05000000000000000000" pitchFamily="2" charset="2"/>
              <a:buChar char="§"/>
              <a:defRPr/>
            </a:pPr>
            <a:r>
              <a:rPr sz="1800" b="1" i="0" u="none" dirty="0">
                <a:solidFill>
                  <a:schemeClr val="dk2"/>
                </a:solidFill>
                <a:latin typeface="+mn-lt"/>
              </a:rPr>
              <a:t>Insight: </a:t>
            </a:r>
            <a:r>
              <a:rPr sz="1800" b="0" i="0" u="none" dirty="0">
                <a:solidFill>
                  <a:schemeClr val="dk2"/>
                </a:solidFill>
                <a:latin typeface="+mn-lt"/>
              </a:rPr>
              <a:t>Identification of market leaders in load factor and passenger volume.</a:t>
            </a:r>
            <a:endParaRPr dirty="0"/>
          </a:p>
          <a:p>
            <a:pPr marL="285750" marR="0" indent="-285750" algn="l">
              <a:lnSpc>
                <a:spcPct val="100000"/>
              </a:lnSpc>
              <a:spcBef>
                <a:spcPct val="0"/>
              </a:spcBef>
              <a:spcAft>
                <a:spcPct val="0"/>
              </a:spcAft>
              <a:buClr>
                <a:schemeClr val="accent1"/>
              </a:buClr>
              <a:buSzTx/>
              <a:buFont typeface="Wingdings" panose="05000000000000000000" pitchFamily="2" charset="2"/>
              <a:buChar char="§"/>
              <a:defRPr/>
            </a:pPr>
            <a:r>
              <a:rPr sz="1800" b="1" i="0" u="none" dirty="0">
                <a:solidFill>
                  <a:schemeClr val="dk2"/>
                </a:solidFill>
                <a:latin typeface="+mn-lt"/>
              </a:rPr>
              <a:t>Action: </a:t>
            </a:r>
            <a:r>
              <a:rPr sz="1800" b="0" i="0" u="none" dirty="0">
                <a:solidFill>
                  <a:schemeClr val="dk2"/>
                </a:solidFill>
                <a:latin typeface="+mn-lt"/>
              </a:rPr>
              <a:t>Collaborate with top carriers to enhance network performance and reach.</a:t>
            </a:r>
            <a:endParaRPr dirty="0"/>
          </a:p>
        </p:txBody>
      </p:sp>
      <p:sp>
        <p:nvSpPr>
          <p:cNvPr id="2105632656" name="Rectangle 2105632655"/>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SLIDELY_ONLY_OFFICE_SLIDE_ID_156828726</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9328562" name="Google Shape;21;p4"/>
          <p:cNvSpPr txBox="1">
            <a:spLocks noGrp="1"/>
          </p:cNvSpPr>
          <p:nvPr>
            <p:ph type="title" hasCustomPrompt="1"/>
          </p:nvPr>
        </p:nvSpPr>
        <p:spPr bwMode="auto">
          <a:xfrm>
            <a:off x="575734" y="129601"/>
            <a:ext cx="6791568" cy="1028700"/>
          </a:xfrm>
          <a:prstGeom prst="rect">
            <a:avLst/>
          </a:prstGeom>
          <a:noFill/>
          <a:ln w="0">
            <a:noFill/>
          </a:ln>
        </p:spPr>
        <p:txBody>
          <a:bodyPr spcFirstLastPara="1" wrap="square" lIns="0" tIns="0" rIns="0" bIns="0" anchor="b" anchorCtr="0">
            <a:noAutofit/>
          </a:bodyPr>
          <a:lstStyle>
            <a:lvl1pPr lvl="0">
              <a:spcBef>
                <a:spcPct val="0"/>
              </a:spcBef>
              <a:spcAft>
                <a:spcPct val="0"/>
              </a:spcAft>
              <a:buSzPts val="3200"/>
              <a:buNone/>
              <a:defRPr sz="3200" b="0">
                <a:solidFill>
                  <a:schemeClr val="tx1"/>
                </a:solidFill>
                <a:latin typeface="+mj-lt"/>
              </a:defRPr>
            </a:lvl1pPr>
            <a:lvl2pPr lvl="1">
              <a:spcBef>
                <a:spcPct val="0"/>
              </a:spcBef>
              <a:spcAft>
                <a:spcPct val="0"/>
              </a:spcAft>
              <a:buSzPts val="3200"/>
              <a:buNone/>
              <a:defRPr/>
            </a:lvl2pPr>
            <a:lvl3pPr lvl="2">
              <a:spcBef>
                <a:spcPct val="0"/>
              </a:spcBef>
              <a:spcAft>
                <a:spcPct val="0"/>
              </a:spcAft>
              <a:buSzPts val="3200"/>
              <a:buNone/>
              <a:defRPr/>
            </a:lvl3pPr>
            <a:lvl4pPr lvl="3">
              <a:spcBef>
                <a:spcPct val="0"/>
              </a:spcBef>
              <a:spcAft>
                <a:spcPct val="0"/>
              </a:spcAft>
              <a:buSzPts val="3200"/>
              <a:buNone/>
              <a:defRPr/>
            </a:lvl4pPr>
            <a:lvl5pPr lvl="4">
              <a:spcBef>
                <a:spcPct val="0"/>
              </a:spcBef>
              <a:spcAft>
                <a:spcPct val="0"/>
              </a:spcAft>
              <a:buSzPts val="3200"/>
              <a:buNone/>
              <a:defRPr/>
            </a:lvl5pPr>
            <a:lvl6pPr lvl="5">
              <a:spcBef>
                <a:spcPct val="0"/>
              </a:spcBef>
              <a:spcAft>
                <a:spcPct val="0"/>
              </a:spcAft>
              <a:buSzPts val="3200"/>
              <a:buNone/>
              <a:defRPr/>
            </a:lvl6pPr>
            <a:lvl7pPr lvl="6">
              <a:spcBef>
                <a:spcPct val="0"/>
              </a:spcBef>
              <a:spcAft>
                <a:spcPct val="0"/>
              </a:spcAft>
              <a:buSzPts val="3200"/>
              <a:buNone/>
              <a:defRPr/>
            </a:lvl7pPr>
            <a:lvl8pPr lvl="7">
              <a:spcBef>
                <a:spcPct val="0"/>
              </a:spcBef>
              <a:spcAft>
                <a:spcPct val="0"/>
              </a:spcAft>
              <a:buSzPts val="3200"/>
              <a:buNone/>
              <a:defRPr/>
            </a:lvl8pPr>
            <a:lvl9pPr lvl="8">
              <a:spcBef>
                <a:spcPct val="0"/>
              </a:spcBef>
              <a:spcAft>
                <a:spcPct val="0"/>
              </a:spcAft>
              <a:buSzPts val="3200"/>
              <a:buNone/>
              <a:defRPr/>
            </a:lvl9pPr>
          </a:lstStyle>
          <a:p>
            <a:pPr>
              <a:defRPr/>
            </a:pPr>
            <a:r>
              <a:rPr b="1" i="0" u="none">
                <a:solidFill>
                  <a:schemeClr val="lt2"/>
                </a:solidFill>
                <a:latin typeface="+mj-lt"/>
              </a:rPr>
              <a:t>Actionable Recommendations to Enhance Efficiency and Profitability</a:t>
            </a:r>
            <a:endParaRPr/>
          </a:p>
        </p:txBody>
      </p:sp>
      <p:sp>
        <p:nvSpPr>
          <p:cNvPr id="1008847008" name="New shape"/>
          <p:cNvSpPr/>
          <p:nvPr/>
        </p:nvSpPr>
        <p:spPr bwMode="auto">
          <a:xfrm>
            <a:off x="575310" y="1651000"/>
            <a:ext cx="6985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400" b="1" i="0" u="none" dirty="0">
                <a:solidFill>
                  <a:schemeClr val="lt2"/>
                </a:solidFill>
                <a:latin typeface="+mj-lt"/>
              </a:rPr>
              <a:t>Core Strategies for Growth and Optimization</a:t>
            </a:r>
            <a:endParaRPr dirty="0"/>
          </a:p>
        </p:txBody>
      </p:sp>
      <p:pic>
        <p:nvPicPr>
          <p:cNvPr id="244577197" name="New picture"/>
          <p:cNvPicPr/>
          <p:nvPr/>
        </p:nvPicPr>
        <p:blipFill>
          <a:blip r:embed="rId3">
            <a:extLst>
              <a:ext uri="{96DAC541-7B7A-43D3-8B79-37D633B846F1}">
                <asvg:svgBlip xmlns:asvg="http://schemas.microsoft.com/office/drawing/2016/SVG/main" r:embed="rId4"/>
              </a:ext>
            </a:extLst>
          </a:blip>
          <a:stretch>
            <a:fillRect/>
          </a:stretch>
        </p:blipFill>
        <p:spPr bwMode="auto">
          <a:xfrm>
            <a:off x="575310" y="2476500"/>
            <a:ext cx="508000" cy="508000"/>
          </a:xfrm>
          <a:prstGeom prst="rect">
            <a:avLst/>
          </a:prstGeom>
        </p:spPr>
      </p:pic>
      <p:sp>
        <p:nvSpPr>
          <p:cNvPr id="149221185" name="New shape"/>
          <p:cNvSpPr/>
          <p:nvPr/>
        </p:nvSpPr>
        <p:spPr bwMode="auto">
          <a:xfrm>
            <a:off x="1270000" y="2413000"/>
            <a:ext cx="6223000" cy="152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1800" b="1" i="0" u="none" dirty="0">
                <a:solidFill>
                  <a:schemeClr val="lt2"/>
                </a:solidFill>
                <a:latin typeface="+mn-lt"/>
              </a:rPr>
              <a:t>Optimize Core Route Schedules: </a:t>
            </a:r>
            <a:r>
              <a:rPr sz="1800" b="0" i="0" u="none" dirty="0">
                <a:solidFill>
                  <a:schemeClr val="lt2"/>
                </a:solidFill>
                <a:latin typeface="+mn-lt"/>
              </a:rPr>
              <a:t>Focus on high-frequency </a:t>
            </a:r>
            <a:r>
              <a:rPr lang="en-US" dirty="0">
                <a:solidFill>
                  <a:schemeClr val="lt2"/>
                </a:solidFill>
                <a:latin typeface="+mn-lt"/>
              </a:rPr>
              <a:t>routes </a:t>
            </a:r>
          </a:p>
          <a:p>
            <a:pPr marL="0" marR="0" indent="0" algn="l">
              <a:lnSpc>
                <a:spcPct val="100000"/>
              </a:lnSpc>
              <a:spcBef>
                <a:spcPct val="0"/>
              </a:spcBef>
              <a:spcAft>
                <a:spcPct val="0"/>
              </a:spcAft>
              <a:buNone/>
              <a:defRPr/>
            </a:pPr>
            <a:endParaRPr lang="en-US" sz="1600" b="0" i="0" u="none" dirty="0">
              <a:solidFill>
                <a:schemeClr val="lt2"/>
              </a:solidFill>
              <a:latin typeface="+mn-lt"/>
            </a:endParaRPr>
          </a:p>
          <a:p>
            <a:pPr marL="285750" marR="0" indent="-285750" algn="l">
              <a:lnSpc>
                <a:spcPct val="100000"/>
              </a:lnSpc>
              <a:spcBef>
                <a:spcPct val="0"/>
              </a:spcBef>
              <a:spcAft>
                <a:spcPct val="0"/>
              </a:spcAft>
              <a:buFont typeface="Wingdings" panose="05000000000000000000" pitchFamily="2" charset="2"/>
              <a:buChar char="§"/>
              <a:defRPr/>
            </a:pPr>
            <a:r>
              <a:rPr lang="en-US" sz="1600" dirty="0">
                <a:solidFill>
                  <a:schemeClr val="lt2"/>
                </a:solidFill>
                <a:latin typeface="+mn-lt"/>
              </a:rPr>
              <a:t>  </a:t>
            </a:r>
            <a:r>
              <a:rPr sz="1600" b="0" i="0" u="none" dirty="0">
                <a:solidFill>
                  <a:schemeClr val="lt2"/>
                </a:solidFill>
                <a:latin typeface="+mn-lt"/>
              </a:rPr>
              <a:t>Optimize flight timings and aircraft size.</a:t>
            </a:r>
            <a:endParaRPr dirty="0"/>
          </a:p>
          <a:p>
            <a:pPr marL="361950" marR="0" indent="-285750" algn="l">
              <a:lnSpc>
                <a:spcPct val="100000"/>
              </a:lnSpc>
              <a:spcBef>
                <a:spcPct val="0"/>
              </a:spcBef>
              <a:spcAft>
                <a:spcPct val="0"/>
              </a:spcAft>
              <a:buFont typeface="Wingdings" panose="05000000000000000000" pitchFamily="2" charset="2"/>
              <a:buChar char="§"/>
              <a:defRPr/>
            </a:pPr>
            <a:r>
              <a:rPr sz="1600" b="1" i="0" u="none" dirty="0">
                <a:solidFill>
                  <a:schemeClr val="lt2"/>
                </a:solidFill>
                <a:latin typeface="+mn-lt"/>
              </a:rPr>
              <a:t>Goal: </a:t>
            </a:r>
            <a:r>
              <a:rPr sz="1600" b="0" i="0" u="none" dirty="0">
                <a:solidFill>
                  <a:schemeClr val="lt2"/>
                </a:solidFill>
                <a:latin typeface="+mn-lt"/>
              </a:rPr>
              <a:t>Maximize load factor and profitability on critical corridors.</a:t>
            </a:r>
            <a:endParaRPr dirty="0"/>
          </a:p>
        </p:txBody>
      </p:sp>
      <p:pic>
        <p:nvPicPr>
          <p:cNvPr id="31141149" name="New picture"/>
          <p:cNvPicPr/>
          <p:nvPr/>
        </p:nvPicPr>
        <p:blipFill>
          <a:blip r:embed="rId5">
            <a:extLst>
              <a:ext uri="{96DAC541-7B7A-43D3-8B79-37D633B846F1}">
                <asvg:svgBlip xmlns:asvg="http://schemas.microsoft.com/office/drawing/2016/SVG/main" r:embed="rId6"/>
              </a:ext>
            </a:extLst>
          </a:blip>
          <a:stretch>
            <a:fillRect/>
          </a:stretch>
        </p:blipFill>
        <p:spPr bwMode="auto">
          <a:xfrm>
            <a:off x="575310" y="4508500"/>
            <a:ext cx="508000" cy="508000"/>
          </a:xfrm>
          <a:prstGeom prst="rect">
            <a:avLst/>
          </a:prstGeom>
        </p:spPr>
      </p:pic>
      <p:sp>
        <p:nvSpPr>
          <p:cNvPr id="1580954140" name="New shape"/>
          <p:cNvSpPr/>
          <p:nvPr/>
        </p:nvSpPr>
        <p:spPr bwMode="auto">
          <a:xfrm>
            <a:off x="1270000" y="4445000"/>
            <a:ext cx="6223000" cy="1524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1800" b="1" i="0" u="none" dirty="0">
                <a:solidFill>
                  <a:schemeClr val="lt2"/>
                </a:solidFill>
                <a:latin typeface="+mn-lt"/>
              </a:rPr>
              <a:t>Launch Load Factor Enhancement Program: </a:t>
            </a:r>
            <a:endParaRPr lang="en-US" sz="1800" b="1" i="0" u="none" dirty="0">
              <a:solidFill>
                <a:schemeClr val="lt2"/>
              </a:solidFill>
              <a:latin typeface="+mn-lt"/>
            </a:endParaRPr>
          </a:p>
          <a:p>
            <a:pPr marL="0" marR="0" indent="0" algn="l">
              <a:lnSpc>
                <a:spcPct val="100000"/>
              </a:lnSpc>
              <a:spcBef>
                <a:spcPct val="0"/>
              </a:spcBef>
              <a:spcAft>
                <a:spcPct val="0"/>
              </a:spcAft>
              <a:buNone/>
              <a:defRPr/>
            </a:pPr>
            <a:endParaRPr lang="en-IN" b="1" dirty="0">
              <a:solidFill>
                <a:schemeClr val="lt2"/>
              </a:solidFill>
              <a:latin typeface="+mn-lt"/>
            </a:endParaRPr>
          </a:p>
          <a:p>
            <a:pPr marL="285750" marR="0" indent="-285750" algn="l">
              <a:lnSpc>
                <a:spcPct val="100000"/>
              </a:lnSpc>
              <a:spcBef>
                <a:spcPct val="0"/>
              </a:spcBef>
              <a:spcAft>
                <a:spcPct val="0"/>
              </a:spcAft>
              <a:buFont typeface="Wingdings" panose="05000000000000000000" pitchFamily="2" charset="2"/>
              <a:buChar char="§"/>
              <a:defRPr/>
            </a:pPr>
            <a:r>
              <a:rPr lang="en-US" sz="1600" b="0" i="0" u="none" dirty="0">
                <a:solidFill>
                  <a:schemeClr val="lt2"/>
                </a:solidFill>
                <a:latin typeface="+mn-lt"/>
              </a:rPr>
              <a:t>  </a:t>
            </a:r>
            <a:r>
              <a:rPr sz="1600" b="0" i="0" u="none" dirty="0">
                <a:solidFill>
                  <a:schemeClr val="lt2"/>
                </a:solidFill>
                <a:latin typeface="+mn-lt"/>
              </a:rPr>
              <a:t>Implement dynamic pricing strategies.</a:t>
            </a:r>
            <a:endParaRPr dirty="0"/>
          </a:p>
          <a:p>
            <a:pPr marL="361950" marR="0" indent="-285750" algn="l">
              <a:lnSpc>
                <a:spcPct val="100000"/>
              </a:lnSpc>
              <a:spcBef>
                <a:spcPct val="0"/>
              </a:spcBef>
              <a:spcAft>
                <a:spcPct val="0"/>
              </a:spcAft>
              <a:buFont typeface="Wingdings" panose="05000000000000000000" pitchFamily="2" charset="2"/>
              <a:buChar char="§"/>
              <a:defRPr/>
            </a:pPr>
            <a:r>
              <a:rPr lang="en-US" sz="1600" b="0" i="0" u="none" dirty="0">
                <a:solidFill>
                  <a:schemeClr val="lt2"/>
                </a:solidFill>
                <a:latin typeface="+mn-lt"/>
              </a:rPr>
              <a:t>To provide</a:t>
            </a:r>
            <a:r>
              <a:rPr sz="1600" b="0" i="0" u="none" dirty="0">
                <a:solidFill>
                  <a:schemeClr val="lt2"/>
                </a:solidFill>
                <a:latin typeface="+mn-lt"/>
              </a:rPr>
              <a:t> promotion</a:t>
            </a:r>
            <a:r>
              <a:rPr lang="en-US" sz="1600" dirty="0">
                <a:solidFill>
                  <a:schemeClr val="lt2"/>
                </a:solidFill>
                <a:latin typeface="+mn-lt"/>
              </a:rPr>
              <a:t>al offers</a:t>
            </a:r>
            <a:r>
              <a:rPr sz="1600" b="0" i="0" u="none" dirty="0">
                <a:solidFill>
                  <a:schemeClr val="lt2"/>
                </a:solidFill>
                <a:latin typeface="+mn-lt"/>
              </a:rPr>
              <a:t> for underperforming routes and non-peak times.</a:t>
            </a:r>
            <a:endParaRPr dirty="0"/>
          </a:p>
        </p:txBody>
      </p:sp>
      <p:sp>
        <p:nvSpPr>
          <p:cNvPr id="974440284" name="New shape"/>
          <p:cNvSpPr/>
          <p:nvPr/>
        </p:nvSpPr>
        <p:spPr bwMode="auto">
          <a:xfrm>
            <a:off x="8382000" y="1651000"/>
            <a:ext cx="3302000" cy="508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2400" b="1" i="0" u="none">
                <a:solidFill>
                  <a:schemeClr val="lt1"/>
                </a:solidFill>
                <a:latin typeface="+mj-lt"/>
              </a:rPr>
              <a:t>Strategic Expansion</a:t>
            </a:r>
            <a:endParaRPr/>
          </a:p>
        </p:txBody>
      </p:sp>
      <p:pic>
        <p:nvPicPr>
          <p:cNvPr id="1967329593" name="New picture"/>
          <p:cNvPicPr/>
          <p:nvPr/>
        </p:nvPicPr>
        <p:blipFill>
          <a:blip r:embed="rId7">
            <a:extLst>
              <a:ext uri="{96DAC541-7B7A-43D3-8B79-37D633B846F1}">
                <asvg:svgBlip xmlns:asvg="http://schemas.microsoft.com/office/drawing/2016/SVG/main" r:embed="rId8"/>
              </a:ext>
            </a:extLst>
          </a:blip>
          <a:stretch>
            <a:fillRect/>
          </a:stretch>
        </p:blipFill>
        <p:spPr bwMode="auto">
          <a:xfrm>
            <a:off x="8382000" y="2476500"/>
            <a:ext cx="508000" cy="508000"/>
          </a:xfrm>
          <a:prstGeom prst="rect">
            <a:avLst/>
          </a:prstGeom>
        </p:spPr>
      </p:pic>
      <p:sp>
        <p:nvSpPr>
          <p:cNvPr id="740686227" name="New shape"/>
          <p:cNvSpPr/>
          <p:nvPr/>
        </p:nvSpPr>
        <p:spPr bwMode="auto">
          <a:xfrm>
            <a:off x="9080500" y="2413000"/>
            <a:ext cx="2857500" cy="3175000"/>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t"/>
          <a:lstStyle>
            <a:defPPr>
              <a:defRPr lang="en-US"/>
            </a:defPPr>
            <a:lvl1pPr marL="0" algn="l" defTabSz="914400" rtl="0">
              <a:defRPr sz="1800">
                <a:solidFill>
                  <a:srgbClr val="F2F0E9"/>
                </a:solidFill>
                <a:latin typeface="Calibri"/>
                <a:ea typeface="+mn-ea"/>
                <a:cs typeface="+mn-cs"/>
              </a:defRPr>
            </a:lvl1pPr>
            <a:lvl2pPr marL="457200" algn="l" defTabSz="914400" rtl="0">
              <a:defRPr sz="1800">
                <a:solidFill>
                  <a:srgbClr val="F2F0E9"/>
                </a:solidFill>
                <a:latin typeface="Calibri"/>
                <a:ea typeface="+mn-ea"/>
                <a:cs typeface="+mn-cs"/>
              </a:defRPr>
            </a:lvl2pPr>
            <a:lvl3pPr marL="914400" algn="l" defTabSz="914400" rtl="0">
              <a:defRPr sz="1800">
                <a:solidFill>
                  <a:srgbClr val="F2F0E9"/>
                </a:solidFill>
                <a:latin typeface="Calibri"/>
                <a:ea typeface="+mn-ea"/>
                <a:cs typeface="+mn-cs"/>
              </a:defRPr>
            </a:lvl3pPr>
            <a:lvl4pPr marL="1371600" algn="l" defTabSz="914400" rtl="0">
              <a:defRPr sz="1800">
                <a:solidFill>
                  <a:srgbClr val="F2F0E9"/>
                </a:solidFill>
                <a:latin typeface="Calibri"/>
                <a:ea typeface="+mn-ea"/>
                <a:cs typeface="+mn-cs"/>
              </a:defRPr>
            </a:lvl4pPr>
            <a:lvl5pPr marL="1828800" algn="l" defTabSz="914400" rtl="0">
              <a:defRPr sz="1800">
                <a:solidFill>
                  <a:srgbClr val="F2F0E9"/>
                </a:solidFill>
                <a:latin typeface="Calibri"/>
                <a:ea typeface="+mn-ea"/>
                <a:cs typeface="+mn-cs"/>
              </a:defRPr>
            </a:lvl5pPr>
            <a:lvl6pPr marL="2286000" algn="l" defTabSz="914400" rtl="0">
              <a:defRPr sz="1800">
                <a:solidFill>
                  <a:srgbClr val="F2F0E9"/>
                </a:solidFill>
                <a:latin typeface="Calibri"/>
                <a:ea typeface="+mn-ea"/>
                <a:cs typeface="+mn-cs"/>
              </a:defRPr>
            </a:lvl6pPr>
            <a:lvl7pPr marL="2743200" algn="l" defTabSz="914400" rtl="0">
              <a:defRPr sz="1800">
                <a:solidFill>
                  <a:srgbClr val="F2F0E9"/>
                </a:solidFill>
                <a:latin typeface="Calibri"/>
                <a:ea typeface="+mn-ea"/>
                <a:cs typeface="+mn-cs"/>
              </a:defRPr>
            </a:lvl7pPr>
            <a:lvl8pPr marL="3200400" algn="l" defTabSz="914400" rtl="0">
              <a:defRPr sz="1800">
                <a:solidFill>
                  <a:srgbClr val="F2F0E9"/>
                </a:solidFill>
                <a:latin typeface="Calibri"/>
                <a:ea typeface="+mn-ea"/>
                <a:cs typeface="+mn-cs"/>
              </a:defRPr>
            </a:lvl8pPr>
            <a:lvl9pPr marL="3657600" algn="l" defTabSz="914400" rtl="0">
              <a:defRPr sz="1800">
                <a:solidFill>
                  <a:srgbClr val="F2F0E9"/>
                </a:solidFill>
                <a:latin typeface="Calibri"/>
                <a:ea typeface="+mn-ea"/>
                <a:cs typeface="+mn-cs"/>
              </a:defRPr>
            </a:lvl9pPr>
          </a:lstStyle>
          <a:p>
            <a:pPr marL="0" marR="0" indent="0" algn="l">
              <a:lnSpc>
                <a:spcPct val="100000"/>
              </a:lnSpc>
              <a:spcBef>
                <a:spcPct val="0"/>
              </a:spcBef>
              <a:spcAft>
                <a:spcPct val="0"/>
              </a:spcAft>
              <a:buNone/>
              <a:defRPr/>
            </a:pPr>
            <a:r>
              <a:rPr sz="1800" b="1" i="0" u="none" dirty="0">
                <a:solidFill>
                  <a:schemeClr val="lt1"/>
                </a:solidFill>
                <a:latin typeface="+mn-lt"/>
              </a:rPr>
              <a:t>Explore Strategic Partnerships: </a:t>
            </a:r>
            <a:r>
              <a:rPr sz="1800" b="0" i="0" u="none" dirty="0">
                <a:solidFill>
                  <a:schemeClr val="lt1"/>
                </a:solidFill>
                <a:latin typeface="+mn-lt"/>
              </a:rPr>
              <a:t>Expand network reach through collaboration.</a:t>
            </a:r>
            <a:endParaRPr dirty="0"/>
          </a:p>
          <a:p>
            <a:pPr marL="254000" marR="0" indent="-177800" algn="l">
              <a:lnSpc>
                <a:spcPct val="100000"/>
              </a:lnSpc>
              <a:spcBef>
                <a:spcPct val="0"/>
              </a:spcBef>
              <a:spcAft>
                <a:spcPct val="0"/>
              </a:spcAft>
              <a:buChar char="•"/>
              <a:defRPr/>
            </a:pPr>
            <a:r>
              <a:rPr sz="1600" b="0" i="0" u="none" dirty="0">
                <a:solidFill>
                  <a:schemeClr val="lt1"/>
                </a:solidFill>
                <a:latin typeface="+mn-lt"/>
              </a:rPr>
              <a:t>Partner with dominant carriers like Southwest.</a:t>
            </a:r>
            <a:endParaRPr dirty="0"/>
          </a:p>
          <a:p>
            <a:pPr marL="254000" marR="0" indent="-177800" algn="l">
              <a:lnSpc>
                <a:spcPct val="100000"/>
              </a:lnSpc>
              <a:spcBef>
                <a:spcPct val="0"/>
              </a:spcBef>
              <a:spcAft>
                <a:spcPct val="0"/>
              </a:spcAft>
              <a:buChar char="•"/>
              <a:defRPr/>
            </a:pPr>
            <a:r>
              <a:rPr sz="1600" b="0" i="0" u="none" dirty="0">
                <a:solidFill>
                  <a:schemeClr val="lt1"/>
                </a:solidFill>
                <a:latin typeface="+mn-lt"/>
              </a:rPr>
              <a:t>Offer seamless travel options to a wider passenger base.</a:t>
            </a:r>
            <a:endParaRPr dirty="0"/>
          </a:p>
        </p:txBody>
      </p:sp>
      <p:sp>
        <p:nvSpPr>
          <p:cNvPr id="885831160" name="Rectangle 885831159"/>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SLIDELY_ONLY_OFFICE_SLIDE_ID_190072541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06463505" name="Text Placeholder 5"/>
          <p:cNvSpPr>
            <a:spLocks noGrp="1"/>
          </p:cNvSpPr>
          <p:nvPr>
            <p:ph type="body" sz="quarter" idx="11" hasCustomPrompt="1"/>
          </p:nvPr>
        </p:nvSpPr>
        <p:spPr bwMode="auto">
          <a:xfrm>
            <a:off x="635000" y="508000"/>
            <a:ext cx="10922000" cy="5842000"/>
          </a:xfrm>
          <a:prstGeom prst="rect">
            <a:avLst/>
          </a:prstGeom>
          <a:noFill/>
          <a:ln w="0">
            <a:noFill/>
          </a:ln>
        </p:spPr>
        <p:txBody>
          <a:bodyPr wrap="none"/>
          <a:lstStyle>
            <a:lvl1pPr algn="ctr">
              <a:defRPr sz="6000">
                <a:latin typeface="+mj-lt"/>
              </a:defRPr>
            </a:lvl1pPr>
          </a:lstStyle>
          <a:p>
            <a:pPr lvl="0">
              <a:defRPr/>
            </a:pPr>
            <a:r>
              <a:rPr sz="16000" b="1" i="0" u="none" dirty="0">
                <a:solidFill>
                  <a:schemeClr val="lt2"/>
                </a:solidFill>
                <a:latin typeface="+mj-lt"/>
              </a:rPr>
              <a:t>Thanks</a:t>
            </a:r>
            <a:endParaRPr dirty="0"/>
          </a:p>
          <a:p>
            <a:pPr>
              <a:defRPr/>
            </a:pPr>
            <a:r>
              <a:rPr lang="en-US" sz="12000" dirty="0">
                <a:solidFill>
                  <a:schemeClr val="lt2"/>
                </a:solidFill>
              </a:rPr>
              <a:t>By Group No. 5</a:t>
            </a:r>
            <a:endParaRPr dirty="0"/>
          </a:p>
        </p:txBody>
      </p:sp>
      <p:sp>
        <p:nvSpPr>
          <p:cNvPr id="1003992328" name="Rectangle 1003992327"/>
          <p:cNvSpPr/>
          <p:nvPr/>
        </p:nvSpPr>
        <p:spPr bwMode="auto">
          <a:xfrm>
            <a:off x="-1999999" y="-1999999"/>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endParaRPr/>
          </a:p>
          <a:p>
            <a:pPr>
              <a:defRPr/>
            </a:pPr>
            <a:r>
              <a:rPr sz="100">
                <a:solidFill>
                  <a:srgbClr val="FFFFFF"/>
                </a:solidFill>
              </a:rPr>
              <a:t>SLIDELY_ONLY_OFFICE_SLIDE_ID_179385778</a:t>
            </a:r>
            <a:endParaRPr/>
          </a:p>
        </p:txBody>
      </p:sp>
    </p:spTree>
    <p:extLst>
      <p:ext uri="{BB962C8B-B14F-4D97-AF65-F5344CB8AC3E}">
        <p14:creationId xmlns:p14="http://schemas.microsoft.com/office/powerpoint/2010/main" val="35509467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9.0.7"/>
  <p:tag name="AS_OS" val="Unix 6.1.161.183"/>
  <p:tag name="AS_RELEASE_DATE" val="2025.07.14"/>
  <p:tag name="AS_TITLE" val="Aspose.Slides for .NET6"/>
  <p:tag name="AS_VERSION" val="25.7"/>
</p:tagLst>
</file>

<file path=ppt/theme/theme1.xml><?xml version="1.0" encoding="utf-8"?>
<a:theme xmlns:a="http://schemas.openxmlformats.org/drawingml/2006/main" name="1_Material">
  <a:themeElements>
    <a:clrScheme name="Custom 48">
      <a:dk1>
        <a:srgbClr val="042440"/>
      </a:dk1>
      <a:lt1>
        <a:srgbClr val="F2F0E9"/>
      </a:lt1>
      <a:dk2>
        <a:srgbClr val="000000"/>
      </a:dk2>
      <a:lt2>
        <a:srgbClr val="042440"/>
      </a:lt2>
      <a:accent1>
        <a:srgbClr val="348AA7"/>
      </a:accent1>
      <a:accent2>
        <a:srgbClr val="26647A"/>
      </a:accent2>
      <a:accent3>
        <a:srgbClr val="042440"/>
      </a:accent3>
      <a:accent4>
        <a:srgbClr val="E8C767"/>
      </a:accent4>
      <a:accent5>
        <a:srgbClr val="AEB0B3"/>
      </a:accent5>
      <a:accent6>
        <a:srgbClr val="F1F3F3"/>
      </a:accent6>
      <a:hlink>
        <a:srgbClr val="E8C767"/>
      </a:hlink>
      <a:folHlink>
        <a:srgbClr val="E8C767"/>
      </a:folHlink>
    </a:clrScheme>
    <a:fontScheme name="Calibri">
      <a:majorFont>
        <a:latin typeface="Calibri"/>
        <a:ea typeface="Calibri"/>
        <a:cs typeface="Arial"/>
      </a:majorFont>
      <a:minorFont>
        <a:latin typeface="Calibri"/>
        <a:ea typeface="Calibri"/>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a:path>
        </a:gradFill>
        <a:gradFill>
          <a:gsLst>
            <a:gs pos="0">
              <a:schemeClr val="phClr">
                <a:tint val="80000"/>
                <a:satMod val="300000"/>
              </a:schemeClr>
            </a:gs>
            <a:gs pos="100000">
              <a:schemeClr val="phClr">
                <a:shade val="30000"/>
                <a:satMod val="200000"/>
              </a:schemeClr>
            </a:gs>
          </a:gsLst>
          <a:path path="circle">
            <a:fillToRect/>
          </a:path>
        </a:gradFill>
      </a:bgFillStyleLst>
    </a:fmtScheme>
  </a:themeElements>
  <a:objectDefaults/>
  <a:extraClrSchemeLst/>
</a:theme>
</file>

<file path=ppt/theme/theme2.xml><?xml version="1.0" encoding="utf-8"?>
<a:theme xmlns:a="http://schemas.openxmlformats.org/drawingml/2006/main" name="1_Material">
  <a:themeElements>
    <a:clrScheme name="Custom 48">
      <a:dk1>
        <a:srgbClr val="042440"/>
      </a:dk1>
      <a:lt1>
        <a:srgbClr val="F2F0E9"/>
      </a:lt1>
      <a:dk2>
        <a:srgbClr val="000000"/>
      </a:dk2>
      <a:lt2>
        <a:srgbClr val="042440"/>
      </a:lt2>
      <a:accent1>
        <a:srgbClr val="348AA7"/>
      </a:accent1>
      <a:accent2>
        <a:srgbClr val="26647A"/>
      </a:accent2>
      <a:accent3>
        <a:srgbClr val="042440"/>
      </a:accent3>
      <a:accent4>
        <a:srgbClr val="E8C767"/>
      </a:accent4>
      <a:accent5>
        <a:srgbClr val="AEB0B3"/>
      </a:accent5>
      <a:accent6>
        <a:srgbClr val="F1F3F3"/>
      </a:accent6>
      <a:hlink>
        <a:srgbClr val="E8C767"/>
      </a:hlink>
      <a:folHlink>
        <a:srgbClr val="E8C767"/>
      </a:folHlink>
    </a:clrScheme>
    <a:fontScheme name="">
      <a:majorFont>
        <a:latin typeface="Calibri"/>
        <a:ea typeface="Calibri"/>
        <a:cs typeface="Arial"/>
      </a:majorFont>
      <a:minorFont>
        <a:latin typeface="Calibri"/>
        <a:ea typeface="Calibri"/>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a:path>
        </a:gradFill>
        <a:gradFill>
          <a:gsLst>
            <a:gs pos="0">
              <a:schemeClr val="phClr">
                <a:tint val="80000"/>
                <a:satMod val="300000"/>
              </a:schemeClr>
            </a:gs>
            <a:gs pos="100000">
              <a:schemeClr val="phClr">
                <a:shade val="30000"/>
                <a:satMod val="200000"/>
              </a:schemeClr>
            </a:gs>
          </a:gsLst>
          <a:path path="circle">
            <a:fillToRect/>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TotalTime>
  <Words>1617</Words>
  <Application>Microsoft Office PowerPoint</Application>
  <PresentationFormat>Widescreen</PresentationFormat>
  <Paragraphs>195</Paragraphs>
  <Slides>22</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Wingdings</vt:lpstr>
      <vt:lpstr>1_Material</vt:lpstr>
      <vt:lpstr>High Cloud Airlines: A Strategic Performance Review</vt:lpstr>
      <vt:lpstr>Objective: Unlocking Operational Excellence Through Data-Driven Analysis</vt:lpstr>
      <vt:lpstr>Our analysis is rooted in a well-defined scope and a robust, multi-step methodology</vt:lpstr>
      <vt:lpstr>PowerPoint Presentation</vt:lpstr>
      <vt:lpstr>Yearly load factor shows growth peaking at 76.9% in 2010 before stabilizing The airline's capacity utilization saw a period of growth from a stable base, before settling at a new, higher baseline, indicating maturing operations.</vt:lpstr>
      <vt:lpstr>Quarterly load factor shows growth peaking at 79% in Q3 before stabilizing The airline’s quarterly load factor shows a growth trajectory peaking in Q3, followed by stabilization at a higher baseline (77–79%). This reflects maturing operations with opportunities to fine-tune demand stimulation in weaker quarters and optimize profitability in stronger ones.</vt:lpstr>
      <vt:lpstr>The monthly load factor shows seasonal peaks in summer (57–58%) and troughs at the start and end of the year (50–52%).                                                                                          This pattern reflects seasonality-driven demand cycles, offering clear opportunities: stimulate demand in weaker months and maximize profitability during peak periods.</vt:lpstr>
      <vt:lpstr>The Weekday / Weekend  Load factor </vt:lpstr>
      <vt:lpstr>PowerPoint Presentation</vt:lpstr>
      <vt:lpstr>Top-tier carriers achieve 90% load factor, highlighting a significant performance gap</vt:lpstr>
      <vt:lpstr>Southwest Airlines dominates passenger volume, capturing a massive 26.4 % passengers preference.</vt:lpstr>
      <vt:lpstr>PowerPoint Presentation</vt:lpstr>
      <vt:lpstr>The Chicago–Detroit Route leads a highly concentrated domestic network</vt:lpstr>
      <vt:lpstr>Demand is heavily skewed towards short-haul flights under 500 miles</vt:lpstr>
      <vt:lpstr>PowerPoint Presentation</vt:lpstr>
      <vt:lpstr>PowerPoint Presentation</vt:lpstr>
      <vt:lpstr>PowerPoint Presentation</vt:lpstr>
      <vt:lpstr>PowerPoint Presentation</vt:lpstr>
      <vt:lpstr>PowerPoint Presentation</vt:lpstr>
      <vt:lpstr>Synthesizing our analysis into key insights for strategic planning</vt:lpstr>
      <vt:lpstr>Actionable Recommendations to Enhance Efficiency and Profitability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 Cloud Airlines: A Strategic Performance Review</dc:title>
  <dc:creator>Admin</dc:creator>
  <cp:lastModifiedBy>tanuj narayan</cp:lastModifiedBy>
  <cp:revision>28</cp:revision>
  <dcterms:created xsi:type="dcterms:W3CDTF">2026-02-23T22:13:00Z</dcterms:created>
  <dcterms:modified xsi:type="dcterms:W3CDTF">2026-02-26T09:06:30Z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_id">
    <vt:lpwstr>e3edd0b2-669c-451f-b229-f9ac41aa1bcf</vt:lpwstr>
  </property>
  <property fmtid="{D5CDD505-2E9C-101B-9397-08002B2CF9AE}" pid="3" name="user_id">
    <vt:lpwstr>92d491b8-d1ee-447b-a52f-88703d0c54cd</vt:lpwstr>
  </property>
</Properties>
</file>